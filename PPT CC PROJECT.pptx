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1"/>
  </p:notesMasterIdLst>
  <p:sldIdLst>
    <p:sldId id="261" r:id="rId2"/>
    <p:sldId id="256" r:id="rId3"/>
    <p:sldId id="257" r:id="rId4"/>
    <p:sldId id="305" r:id="rId5"/>
    <p:sldId id="271" r:id="rId6"/>
    <p:sldId id="274" r:id="rId7"/>
    <p:sldId id="306" r:id="rId8"/>
    <p:sldId id="307" r:id="rId9"/>
    <p:sldId id="277" r:id="rId10"/>
  </p:sldIdLst>
  <p:sldSz cx="9144000" cy="5143500" type="screen16x9"/>
  <p:notesSz cx="6858000" cy="9144000"/>
  <p:embeddedFontLst>
    <p:embeddedFont>
      <p:font typeface="Catamaran" panose="020B0604020202020204" charset="0"/>
      <p:regular r:id="rId12"/>
      <p:bold r:id="rId13"/>
    </p:embeddedFont>
    <p:embeddedFont>
      <p:font typeface="Fugaz One" panose="020B0604020202020204" charset="0"/>
      <p:regular r:id="rId14"/>
    </p:embeddedFont>
    <p:embeddedFont>
      <p:font typeface="Roboto Condensed Light" panose="02000000000000000000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7A3A50-23BF-4358-845B-355452F3EBDF}">
  <a:tblStyle styleId="{017A3A50-23BF-4358-845B-355452F3EB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1ce9dc6fa_1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11ce9dc6fa_1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4299302-2871-647B-BB84-552EF72D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9f2f57a71_0_0:notes">
            <a:extLst>
              <a:ext uri="{FF2B5EF4-FFF2-40B4-BE49-F238E27FC236}">
                <a16:creationId xmlns:a16="http://schemas.microsoft.com/office/drawing/2014/main" id="{5E80101C-591B-5EB0-2DCC-20F07DEA9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9f2f57a71_0_0:notes">
            <a:extLst>
              <a:ext uri="{FF2B5EF4-FFF2-40B4-BE49-F238E27FC236}">
                <a16:creationId xmlns:a16="http://schemas.microsoft.com/office/drawing/2014/main" id="{830E97E1-58B7-1BDC-9ABD-4D0FD32D4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652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1ce9dc6fa_1_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11ce9dc6fa_1_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D09CE85F-030F-ECA0-047C-58471147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9f2f57a71_0_0:notes">
            <a:extLst>
              <a:ext uri="{FF2B5EF4-FFF2-40B4-BE49-F238E27FC236}">
                <a16:creationId xmlns:a16="http://schemas.microsoft.com/office/drawing/2014/main" id="{4040B1F4-3280-4AC6-8C09-4A9E13786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9f2f57a71_0_0:notes">
            <a:extLst>
              <a:ext uri="{FF2B5EF4-FFF2-40B4-BE49-F238E27FC236}">
                <a16:creationId xmlns:a16="http://schemas.microsoft.com/office/drawing/2014/main" id="{17AA8EC3-F488-1DF7-A285-0F8888717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419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6AF2C15-81EC-C8CA-D233-A787B17B5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9f2f57a71_0_0:notes">
            <a:extLst>
              <a:ext uri="{FF2B5EF4-FFF2-40B4-BE49-F238E27FC236}">
                <a16:creationId xmlns:a16="http://schemas.microsoft.com/office/drawing/2014/main" id="{57920966-C5AC-24D6-3F89-D327D142A9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9f2f57a71_0_0:notes">
            <a:extLst>
              <a:ext uri="{FF2B5EF4-FFF2-40B4-BE49-F238E27FC236}">
                <a16:creationId xmlns:a16="http://schemas.microsoft.com/office/drawing/2014/main" id="{2A319418-0707-EE83-4AA1-021E74260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47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94" y="3529712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title" idx="2"/>
          </p:nvPr>
        </p:nvSpPr>
        <p:spPr>
          <a:xfrm>
            <a:off x="1620725" y="2800350"/>
            <a:ext cx="2180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title" idx="3"/>
          </p:nvPr>
        </p:nvSpPr>
        <p:spPr>
          <a:xfrm>
            <a:off x="5343250" y="2800350"/>
            <a:ext cx="21801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5180497" y="32665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1457900" y="3266572"/>
            <a:ext cx="2505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5525" y="1540775"/>
            <a:ext cx="3243000" cy="27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905550" y="959188"/>
            <a:ext cx="324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415867" y="3554200"/>
            <a:ext cx="4312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372375" y="2272550"/>
            <a:ext cx="4399200" cy="116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5902625" y="16677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-415775" y="2071075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4"/>
          <p:cNvSpPr/>
          <p:nvPr/>
        </p:nvSpPr>
        <p:spPr>
          <a:xfrm>
            <a:off x="1216275" y="-1099550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4"/>
          <p:cNvSpPr/>
          <p:nvPr/>
        </p:nvSpPr>
        <p:spPr>
          <a:xfrm>
            <a:off x="2874800" y="26794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5283600" y="251610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4199950" y="-364650"/>
            <a:ext cx="3457500" cy="2936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-156300" y="-90275"/>
            <a:ext cx="4880700" cy="41451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/>
        </p:nvSpPr>
        <p:spPr>
          <a:xfrm>
            <a:off x="56298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30831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536488" y="935150"/>
            <a:ext cx="2977800" cy="27714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4240375" y="476099"/>
            <a:ext cx="4624500" cy="4191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ugaz One"/>
              <a:buNone/>
              <a:defRPr sz="3000">
                <a:solidFill>
                  <a:schemeClr val="dk2"/>
                </a:solidFill>
                <a:latin typeface="Fugaz One"/>
                <a:ea typeface="Fugaz One"/>
                <a:cs typeface="Fugaz One"/>
                <a:sym typeface="Fugaz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●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"/>
              <a:buChar char="○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"/>
              <a:buChar char="■"/>
              <a:defRPr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8" r:id="rId6"/>
    <p:sldLayoutId id="2147483660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/>
          <p:nvPr/>
        </p:nvSpPr>
        <p:spPr>
          <a:xfrm>
            <a:off x="2676548" y="1205775"/>
            <a:ext cx="3961200" cy="35577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6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6"/>
          <p:cNvSpPr/>
          <p:nvPr/>
        </p:nvSpPr>
        <p:spPr>
          <a:xfrm>
            <a:off x="2964675" y="1788325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6"/>
          <p:cNvSpPr/>
          <p:nvPr/>
        </p:nvSpPr>
        <p:spPr>
          <a:xfrm>
            <a:off x="5372300" y="1788325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6"/>
          <p:cNvSpPr/>
          <p:nvPr/>
        </p:nvSpPr>
        <p:spPr>
          <a:xfrm>
            <a:off x="2979480" y="2754811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6"/>
          <p:cNvSpPr/>
          <p:nvPr/>
        </p:nvSpPr>
        <p:spPr>
          <a:xfrm>
            <a:off x="5372300" y="2738481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163286" y="1809525"/>
            <a:ext cx="2601814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Rahmat Fitrah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6378876" y="1809525"/>
            <a:ext cx="2528359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Pandu wiguna ruswandi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688973" y="2860007"/>
            <a:ext cx="2045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Salsa rizky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6378875" y="2867776"/>
            <a:ext cx="2765123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Yopi andri dwi anugrah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62" name="Google Shape;262;p36"/>
          <p:cNvSpPr/>
          <p:nvPr/>
        </p:nvSpPr>
        <p:spPr>
          <a:xfrm>
            <a:off x="3011075" y="1895825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01</a:t>
            </a:r>
            <a:endParaRPr sz="320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63" name="Google Shape;263;p36"/>
          <p:cNvSpPr/>
          <p:nvPr/>
        </p:nvSpPr>
        <p:spPr>
          <a:xfrm>
            <a:off x="5418650" y="1895825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02</a:t>
            </a:r>
            <a:endParaRPr sz="110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64" name="Google Shape;264;p36"/>
          <p:cNvSpPr/>
          <p:nvPr/>
        </p:nvSpPr>
        <p:spPr>
          <a:xfrm>
            <a:off x="3000269" y="2900207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03</a:t>
            </a:r>
            <a:endParaRPr sz="1100" dirty="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5418650" y="2862363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04</a:t>
            </a:r>
            <a:endParaRPr sz="1100" dirty="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cxnSp>
        <p:nvCxnSpPr>
          <p:cNvPr id="266" name="Google Shape;266;p36"/>
          <p:cNvCxnSpPr>
            <a:stCxn id="250" idx="3"/>
            <a:endCxn id="251" idx="1"/>
          </p:cNvCxnSpPr>
          <p:nvPr/>
        </p:nvCxnSpPr>
        <p:spPr>
          <a:xfrm>
            <a:off x="3771675" y="2108875"/>
            <a:ext cx="160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6"/>
          <p:cNvCxnSpPr>
            <a:stCxn id="252" idx="3"/>
            <a:endCxn id="253" idx="1"/>
          </p:cNvCxnSpPr>
          <p:nvPr/>
        </p:nvCxnSpPr>
        <p:spPr>
          <a:xfrm flipV="1">
            <a:off x="3786480" y="3059031"/>
            <a:ext cx="1585820" cy="1633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6"/>
          <p:cNvCxnSpPr>
            <a:stCxn id="251" idx="2"/>
            <a:endCxn id="252" idx="0"/>
          </p:cNvCxnSpPr>
          <p:nvPr/>
        </p:nvCxnSpPr>
        <p:spPr>
          <a:xfrm rot="5400000">
            <a:off x="4416697" y="1395708"/>
            <a:ext cx="325386" cy="239282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9" name="Google Shape;269;p36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270" name="Google Shape;270;p36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1" name="Google Shape;271;p36"/>
            <p:cNvCxnSpPr>
              <a:stCxn id="270" idx="2"/>
              <a:endCxn id="249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2" name="Google Shape;272;p36"/>
          <p:cNvGrpSpPr/>
          <p:nvPr/>
        </p:nvGrpSpPr>
        <p:grpSpPr>
          <a:xfrm flipH="1">
            <a:off x="8567798" y="860175"/>
            <a:ext cx="171000" cy="3574050"/>
            <a:chOff x="5816800" y="2392275"/>
            <a:chExt cx="171000" cy="3574050"/>
          </a:xfrm>
        </p:grpSpPr>
        <p:sp>
          <p:nvSpPr>
            <p:cNvPr id="273" name="Google Shape;273;p36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4" name="Google Shape;274;p36"/>
            <p:cNvCxnSpPr>
              <a:stCxn id="273" idx="2"/>
              <a:endCxn id="249" idx="3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ANGGOTA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4" name="Google Shape;268;p36">
            <a:extLst>
              <a:ext uri="{FF2B5EF4-FFF2-40B4-BE49-F238E27FC236}">
                <a16:creationId xmlns:a16="http://schemas.microsoft.com/office/drawing/2014/main" id="{392DF060-8150-5DD6-FC8C-32F4A217BF9B}"/>
              </a:ext>
            </a:extLst>
          </p:cNvPr>
          <p:cNvCxnSpPr/>
          <p:nvPr/>
        </p:nvCxnSpPr>
        <p:spPr>
          <a:xfrm rot="5400000">
            <a:off x="4401892" y="2341028"/>
            <a:ext cx="325386" cy="239282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252;p36">
            <a:extLst>
              <a:ext uri="{FF2B5EF4-FFF2-40B4-BE49-F238E27FC236}">
                <a16:creationId xmlns:a16="http://schemas.microsoft.com/office/drawing/2014/main" id="{09C29809-55C6-C7F0-B5CA-8034CA6435C3}"/>
              </a:ext>
            </a:extLst>
          </p:cNvPr>
          <p:cNvSpPr/>
          <p:nvPr/>
        </p:nvSpPr>
        <p:spPr>
          <a:xfrm>
            <a:off x="2979480" y="3701614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64;p36">
            <a:extLst>
              <a:ext uri="{FF2B5EF4-FFF2-40B4-BE49-F238E27FC236}">
                <a16:creationId xmlns:a16="http://schemas.microsoft.com/office/drawing/2014/main" id="{9DD031B2-CDCD-2EE5-48EC-68F7C51AB9AE}"/>
              </a:ext>
            </a:extLst>
          </p:cNvPr>
          <p:cNvSpPr/>
          <p:nvPr/>
        </p:nvSpPr>
        <p:spPr>
          <a:xfrm>
            <a:off x="3036449" y="3828765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05</a:t>
            </a:r>
            <a:endParaRPr sz="1100" dirty="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7" name="Google Shape;259;p36">
            <a:extLst>
              <a:ext uri="{FF2B5EF4-FFF2-40B4-BE49-F238E27FC236}">
                <a16:creationId xmlns:a16="http://schemas.microsoft.com/office/drawing/2014/main" id="{FE7677C8-3CF4-13B9-9D1E-72FB7A8D9365}"/>
              </a:ext>
            </a:extLst>
          </p:cNvPr>
          <p:cNvSpPr txBox="1"/>
          <p:nvPr/>
        </p:nvSpPr>
        <p:spPr>
          <a:xfrm>
            <a:off x="688973" y="3828765"/>
            <a:ext cx="2045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Nurazizah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cxnSp>
        <p:nvCxnSpPr>
          <p:cNvPr id="8" name="Google Shape;267;p36">
            <a:extLst>
              <a:ext uri="{FF2B5EF4-FFF2-40B4-BE49-F238E27FC236}">
                <a16:creationId xmlns:a16="http://schemas.microsoft.com/office/drawing/2014/main" id="{80DF7510-1AD3-7F1A-376F-C998F0D898C2}"/>
              </a:ext>
            </a:extLst>
          </p:cNvPr>
          <p:cNvCxnSpPr/>
          <p:nvPr/>
        </p:nvCxnSpPr>
        <p:spPr>
          <a:xfrm flipV="1">
            <a:off x="3786355" y="3978461"/>
            <a:ext cx="1585820" cy="1633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253;p36">
            <a:extLst>
              <a:ext uri="{FF2B5EF4-FFF2-40B4-BE49-F238E27FC236}">
                <a16:creationId xmlns:a16="http://schemas.microsoft.com/office/drawing/2014/main" id="{A3F3924A-C558-F473-09F9-61D5D2985CB2}"/>
              </a:ext>
            </a:extLst>
          </p:cNvPr>
          <p:cNvSpPr/>
          <p:nvPr/>
        </p:nvSpPr>
        <p:spPr>
          <a:xfrm>
            <a:off x="5370555" y="3721215"/>
            <a:ext cx="807000" cy="6411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65;p36">
            <a:extLst>
              <a:ext uri="{FF2B5EF4-FFF2-40B4-BE49-F238E27FC236}">
                <a16:creationId xmlns:a16="http://schemas.microsoft.com/office/drawing/2014/main" id="{B410F8DD-319E-718C-BAF7-E90AEC4E8890}"/>
              </a:ext>
            </a:extLst>
          </p:cNvPr>
          <p:cNvSpPr/>
          <p:nvPr/>
        </p:nvSpPr>
        <p:spPr>
          <a:xfrm>
            <a:off x="5402958" y="3858528"/>
            <a:ext cx="7143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1"/>
                </a:solidFill>
                <a:latin typeface="Fugaz One"/>
                <a:ea typeface="Fugaz One"/>
                <a:cs typeface="Fugaz One"/>
                <a:sym typeface="Fugaz One"/>
              </a:rPr>
              <a:t>06</a:t>
            </a:r>
            <a:endParaRPr sz="1100" dirty="0">
              <a:solidFill>
                <a:schemeClr val="dk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  <p:sp>
        <p:nvSpPr>
          <p:cNvPr id="11" name="Google Shape;260;p36">
            <a:extLst>
              <a:ext uri="{FF2B5EF4-FFF2-40B4-BE49-F238E27FC236}">
                <a16:creationId xmlns:a16="http://schemas.microsoft.com/office/drawing/2014/main" id="{B815D859-7E16-DFBE-6230-C244338A84BB}"/>
              </a:ext>
            </a:extLst>
          </p:cNvPr>
          <p:cNvSpPr txBox="1"/>
          <p:nvPr/>
        </p:nvSpPr>
        <p:spPr>
          <a:xfrm>
            <a:off x="6378877" y="3828765"/>
            <a:ext cx="2765123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Fajar </a:t>
            </a:r>
            <a:r>
              <a:rPr lang="en-US" sz="2500" dirty="0" err="1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Danuar</a:t>
            </a:r>
            <a:r>
              <a:rPr lang="en-US" sz="2500" dirty="0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 </a:t>
            </a:r>
            <a:r>
              <a:rPr lang="en-US" sz="2500" dirty="0" err="1">
                <a:solidFill>
                  <a:schemeClr val="lt1"/>
                </a:solidFill>
                <a:latin typeface="Fugaz One"/>
                <a:ea typeface="Fugaz One"/>
                <a:cs typeface="Fugaz One"/>
                <a:sym typeface="Fugaz One"/>
              </a:rPr>
              <a:t>permana</a:t>
            </a:r>
            <a:endParaRPr sz="2500" dirty="0">
              <a:solidFill>
                <a:schemeClr val="lt1"/>
              </a:solidFill>
              <a:latin typeface="Fugaz One"/>
              <a:ea typeface="Fugaz One"/>
              <a:cs typeface="Fugaz One"/>
              <a:sym typeface="Fugaz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/>
          <p:nvPr/>
        </p:nvSpPr>
        <p:spPr>
          <a:xfrm>
            <a:off x="5015854" y="848722"/>
            <a:ext cx="3069900" cy="23409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1"/>
          <p:cNvSpPr/>
          <p:nvPr/>
        </p:nvSpPr>
        <p:spPr>
          <a:xfrm>
            <a:off x="637600" y="195974"/>
            <a:ext cx="4228200" cy="4092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1"/>
          <p:cNvSpPr/>
          <p:nvPr/>
        </p:nvSpPr>
        <p:spPr>
          <a:xfrm>
            <a:off x="4865794" y="2987551"/>
            <a:ext cx="3271200" cy="436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Cloud Computing</a:t>
            </a:r>
            <a:endParaRPr dirty="0"/>
          </a:p>
        </p:txBody>
      </p:sp>
      <p:sp>
        <p:nvSpPr>
          <p:cNvPr id="146" name="Google Shape;146;p31"/>
          <p:cNvSpPr txBox="1">
            <a:spLocks noGrp="1"/>
          </p:cNvSpPr>
          <p:nvPr>
            <p:ph type="subTitle" idx="1"/>
          </p:nvPr>
        </p:nvSpPr>
        <p:spPr>
          <a:xfrm>
            <a:off x="2642700" y="4351633"/>
            <a:ext cx="385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UNIVERSITAS NUSA PUTRA</a:t>
            </a:r>
            <a:endParaRPr dirty="0"/>
          </a:p>
        </p:txBody>
      </p:sp>
      <p:pic>
        <p:nvPicPr>
          <p:cNvPr id="150" name="Google Shape;15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75" y="764750"/>
            <a:ext cx="3003401" cy="3613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31"/>
          <p:cNvGrpSpPr/>
          <p:nvPr/>
        </p:nvGrpSpPr>
        <p:grpSpPr>
          <a:xfrm>
            <a:off x="4636084" y="1927949"/>
            <a:ext cx="3642956" cy="628350"/>
            <a:chOff x="5559938" y="2594775"/>
            <a:chExt cx="1882925" cy="628350"/>
          </a:xfrm>
        </p:grpSpPr>
        <p:grpSp>
          <p:nvGrpSpPr>
            <p:cNvPr id="152" name="Google Shape;152;p31"/>
            <p:cNvGrpSpPr/>
            <p:nvPr/>
          </p:nvGrpSpPr>
          <p:grpSpPr>
            <a:xfrm>
              <a:off x="5559938" y="2594775"/>
              <a:ext cx="340200" cy="628350"/>
              <a:chOff x="5546500" y="2594775"/>
              <a:chExt cx="340200" cy="628350"/>
            </a:xfrm>
          </p:grpSpPr>
          <p:sp>
            <p:nvSpPr>
              <p:cNvPr id="153" name="Google Shape;153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" name="Google Shape;154;p31"/>
              <p:cNvCxnSpPr>
                <a:stCxn id="153" idx="2"/>
              </p:cNvCxnSpPr>
              <p:nvPr/>
            </p:nvCxnSpPr>
            <p:spPr>
              <a:xfrm rot="10800000">
                <a:off x="5546500" y="2594775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5" name="Google Shape;155;p31"/>
            <p:cNvGrpSpPr/>
            <p:nvPr/>
          </p:nvGrpSpPr>
          <p:grpSpPr>
            <a:xfrm flipH="1">
              <a:off x="7102663" y="2594775"/>
              <a:ext cx="340200" cy="628350"/>
              <a:chOff x="5546500" y="2594775"/>
              <a:chExt cx="340200" cy="628350"/>
            </a:xfrm>
          </p:grpSpPr>
          <p:sp>
            <p:nvSpPr>
              <p:cNvPr id="156" name="Google Shape;156;p31"/>
              <p:cNvSpPr/>
              <p:nvPr/>
            </p:nvSpPr>
            <p:spPr>
              <a:xfrm>
                <a:off x="5816800" y="3153225"/>
                <a:ext cx="69900" cy="69900"/>
              </a:xfrm>
              <a:prstGeom prst="ellipse">
                <a:avLst/>
              </a:prstGeom>
              <a:gradFill>
                <a:gsLst>
                  <a:gs pos="0">
                    <a:srgbClr val="82BCFE"/>
                  </a:gs>
                  <a:gs pos="100000">
                    <a:srgbClr val="0C77F1"/>
                  </a:gs>
                </a:gsLst>
                <a:lin ang="5400012" scaled="0"/>
              </a:gra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7" name="Google Shape;157;p31"/>
              <p:cNvCxnSpPr>
                <a:stCxn id="156" idx="2"/>
              </p:cNvCxnSpPr>
              <p:nvPr/>
            </p:nvCxnSpPr>
            <p:spPr>
              <a:xfrm rot="10800000">
                <a:off x="5546500" y="2594775"/>
                <a:ext cx="270300" cy="593400"/>
              </a:xfrm>
              <a:prstGeom prst="bentConnector2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8" name="Google Shape;158;p31"/>
          <p:cNvSpPr txBox="1">
            <a:spLocks noGrp="1"/>
          </p:cNvSpPr>
          <p:nvPr>
            <p:ph type="ctrTitle"/>
          </p:nvPr>
        </p:nvSpPr>
        <p:spPr>
          <a:xfrm>
            <a:off x="4572094" y="1086488"/>
            <a:ext cx="3858600" cy="17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1600" dirty="0"/>
              <a:t>Proses </a:t>
            </a:r>
            <a:r>
              <a:rPr lang="en-ID" sz="1600" dirty="0" err="1"/>
              <a:t>pengolahan</a:t>
            </a:r>
            <a:r>
              <a:rPr lang="en-ID" sz="1600" dirty="0"/>
              <a:t> data E-Learning </a:t>
            </a:r>
            <a:r>
              <a:rPr lang="en-ID" sz="1600" dirty="0" err="1"/>
              <a:t>dilakukan</a:t>
            </a:r>
            <a:r>
              <a:rPr lang="en-ID" sz="1600" dirty="0"/>
              <a:t> di Lokasi </a:t>
            </a:r>
            <a:r>
              <a:rPr lang="en-ID" sz="1600" dirty="0" err="1"/>
              <a:t>utama</a:t>
            </a:r>
            <a:r>
              <a:rPr lang="en-ID" sz="1600" dirty="0"/>
              <a:t> Data </a:t>
            </a:r>
            <a:r>
              <a:rPr lang="en-ID" sz="1600" dirty="0" err="1"/>
              <a:t>Center</a:t>
            </a:r>
            <a:r>
              <a:rPr lang="en-ID" sz="1600" dirty="0"/>
              <a:t> (DC) Universitas X </a:t>
            </a:r>
            <a:r>
              <a:rPr lang="en-ID" sz="1600" dirty="0" err="1"/>
              <a:t>Cibadak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on premised (primary)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2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lnSpc>
                <a:spcPct val="150000"/>
              </a:lnSpc>
              <a:buNone/>
            </a:pPr>
            <a:r>
              <a:rPr lang="en-ID" dirty="0"/>
              <a:t>Di </a:t>
            </a:r>
            <a:r>
              <a:rPr lang="en-ID" dirty="0" err="1"/>
              <a:t>sini</a:t>
            </a:r>
            <a:r>
              <a:rPr lang="en-ID" dirty="0"/>
              <a:t> </a:t>
            </a:r>
            <a:r>
              <a:rPr lang="en-ID" dirty="0" err="1"/>
              <a:t>semuanya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serba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dipakai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hari</a:t>
            </a:r>
            <a:r>
              <a:rPr lang="en-ID" dirty="0"/>
              <a:t> oleh </a:t>
            </a:r>
            <a:r>
              <a:rPr lang="en-ID" dirty="0" err="1"/>
              <a:t>ribuan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.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/>
              <a:t>Server </a:t>
            </a:r>
            <a:r>
              <a:rPr lang="en-ID" b="1" dirty="0" err="1"/>
              <a:t>Aplikasi</a:t>
            </a:r>
            <a:r>
              <a:rPr lang="en-ID" b="1" dirty="0"/>
              <a:t> (Si </a:t>
            </a:r>
            <a:r>
              <a:rPr lang="en-ID" b="1" dirty="0" err="1"/>
              <a:t>Pelayan</a:t>
            </a:r>
            <a:r>
              <a:rPr lang="en-ID" b="1" dirty="0"/>
              <a:t>):</a:t>
            </a:r>
            <a:r>
              <a:rPr lang="en-ID" dirty="0"/>
              <a:t> </a:t>
            </a:r>
            <a:r>
              <a:rPr lang="en-ID" dirty="0" err="1"/>
              <a:t>Ibarat</a:t>
            </a:r>
            <a:r>
              <a:rPr lang="en-ID" dirty="0"/>
              <a:t> </a:t>
            </a:r>
            <a:r>
              <a:rPr lang="en-ID" dirty="0" err="1"/>
              <a:t>kasir</a:t>
            </a:r>
            <a:r>
              <a:rPr lang="en-ID" dirty="0"/>
              <a:t> yang </a:t>
            </a:r>
            <a:r>
              <a:rPr lang="en-ID" dirty="0" err="1"/>
              <a:t>melayani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login dan </a:t>
            </a:r>
            <a:r>
              <a:rPr lang="en-ID" dirty="0" err="1"/>
              <a:t>buka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. Kita pasang 2 </a:t>
            </a:r>
            <a:r>
              <a:rPr lang="en-ID" dirty="0" err="1"/>
              <a:t>supaya</a:t>
            </a:r>
            <a:r>
              <a:rPr lang="en-ID" dirty="0"/>
              <a:t> </a:t>
            </a:r>
            <a:r>
              <a:rPr lang="en-ID" dirty="0" err="1"/>
              <a:t>kalau</a:t>
            </a:r>
            <a:r>
              <a:rPr lang="en-ID" dirty="0"/>
              <a:t> 1 </a:t>
            </a:r>
            <a:r>
              <a:rPr lang="en-ID" dirty="0" err="1"/>
              <a:t>capek</a:t>
            </a:r>
            <a:r>
              <a:rPr lang="en-ID" dirty="0"/>
              <a:t>,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1 </a:t>
            </a:r>
            <a:r>
              <a:rPr lang="en-ID" dirty="0" err="1"/>
              <a:t>lagi</a:t>
            </a:r>
            <a:r>
              <a:rPr lang="en-ID" dirty="0"/>
              <a:t>.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/>
              <a:t>Server Database (Si Brankas):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, </a:t>
            </a:r>
            <a:r>
              <a:rPr lang="en-ID" dirty="0" err="1"/>
              <a:t>absensi</a:t>
            </a:r>
            <a:r>
              <a:rPr lang="en-ID" dirty="0"/>
              <a:t>, dan data user. Ini </a:t>
            </a:r>
            <a:r>
              <a:rPr lang="en-ID" dirty="0" err="1"/>
              <a:t>bagian</a:t>
            </a:r>
            <a:r>
              <a:rPr lang="en-ID" dirty="0"/>
              <a:t> paling vital.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/>
              <a:t>Storage (Gudang):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file PDF </a:t>
            </a:r>
            <a:r>
              <a:rPr lang="en-ID" dirty="0" err="1"/>
              <a:t>materi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video </a:t>
            </a:r>
            <a:r>
              <a:rPr lang="en-ID" dirty="0" err="1"/>
              <a:t>dosen</a:t>
            </a:r>
            <a:r>
              <a:rPr lang="en-ID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b="1" dirty="0"/>
              <a:t>Software:</a:t>
            </a:r>
            <a:r>
              <a:rPr lang="en-ID" dirty="0"/>
              <a:t> Kita </a:t>
            </a:r>
            <a:r>
              <a:rPr lang="en-ID" dirty="0" err="1"/>
              <a:t>pakai</a:t>
            </a:r>
            <a:r>
              <a:rPr lang="en-ID" dirty="0"/>
              <a:t> Linux (Gratis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tangguh</a:t>
            </a:r>
            <a:r>
              <a:rPr lang="en-ID" dirty="0"/>
              <a:t>) dan Moodle (</a:t>
            </a:r>
            <a:r>
              <a:rPr lang="en-ID" dirty="0" err="1"/>
              <a:t>Aplikasi</a:t>
            </a:r>
            <a:r>
              <a:rPr lang="en-ID" dirty="0"/>
              <a:t> E-Learning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kampus</a:t>
            </a:r>
            <a:r>
              <a:rPr lang="en-ID" dirty="0"/>
              <a:t>).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65" name="Google Shape;165;p32"/>
          <p:cNvGrpSpPr/>
          <p:nvPr/>
        </p:nvGrpSpPr>
        <p:grpSpPr>
          <a:xfrm>
            <a:off x="405288" y="860175"/>
            <a:ext cx="171000" cy="830850"/>
            <a:chOff x="5816800" y="2392275"/>
            <a:chExt cx="171000" cy="830850"/>
          </a:xfrm>
        </p:grpSpPr>
        <p:sp>
          <p:nvSpPr>
            <p:cNvPr id="166" name="Google Shape;166;p32"/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32"/>
            <p:cNvCxnSpPr>
              <a:stCxn id="166" idx="2"/>
              <a:endCxn id="163" idx="1"/>
            </p:cNvCxnSpPr>
            <p:nvPr/>
          </p:nvCxnSpPr>
          <p:spPr>
            <a:xfrm rot="10800000" flipH="1">
              <a:off x="5816800" y="2392275"/>
              <a:ext cx="171000" cy="7959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32"/>
          <p:cNvGrpSpPr/>
          <p:nvPr/>
        </p:nvGrpSpPr>
        <p:grpSpPr>
          <a:xfrm flipH="1">
            <a:off x="8567713" y="860175"/>
            <a:ext cx="171000" cy="3515250"/>
            <a:chOff x="5816800" y="-292125"/>
            <a:chExt cx="171000" cy="3515250"/>
          </a:xfrm>
        </p:grpSpPr>
        <p:sp>
          <p:nvSpPr>
            <p:cNvPr id="169" name="Google Shape;169;p32"/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" name="Google Shape;170;p32"/>
            <p:cNvCxnSpPr>
              <a:stCxn id="169" idx="2"/>
              <a:endCxn id="163" idx="3"/>
            </p:cNvCxnSpPr>
            <p:nvPr/>
          </p:nvCxnSpPr>
          <p:spPr>
            <a:xfrm rot="10800000" flipH="1">
              <a:off x="5816800" y="-292125"/>
              <a:ext cx="171000" cy="34803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 err="1"/>
              <a:t>Spesifikasi</a:t>
            </a:r>
            <a:r>
              <a:rPr lang="en-ID" b="1" dirty="0"/>
              <a:t> di  DC </a:t>
            </a:r>
            <a:r>
              <a:rPr lang="en-ID" b="1" dirty="0" err="1"/>
              <a:t>Cibadak</a:t>
            </a:r>
            <a:endParaRPr dirty="0"/>
          </a:p>
        </p:txBody>
      </p:sp>
      <p:pic>
        <p:nvPicPr>
          <p:cNvPr id="807" name="Google Shape;80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5096" y="2151755"/>
            <a:ext cx="1585361" cy="312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1FE63D61-63E8-7ABD-D342-0D1779F6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>
            <a:extLst>
              <a:ext uri="{FF2B5EF4-FFF2-40B4-BE49-F238E27FC236}">
                <a16:creationId xmlns:a16="http://schemas.microsoft.com/office/drawing/2014/main" id="{1CDEEE29-24B0-AB12-9235-53973D83FC62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2">
            <a:extLst>
              <a:ext uri="{FF2B5EF4-FFF2-40B4-BE49-F238E27FC236}">
                <a16:creationId xmlns:a16="http://schemas.microsoft.com/office/drawing/2014/main" id="{3EB958CB-4E5E-D2F3-EF2F-C74DA94C8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6289" y="1481885"/>
            <a:ext cx="8424000" cy="2788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algn="just">
              <a:lnSpc>
                <a:spcPct val="150000"/>
              </a:lnSpc>
              <a:buNone/>
            </a:pPr>
            <a:r>
              <a:rPr lang="en-ID" dirty="0"/>
              <a:t>Kita </a:t>
            </a:r>
            <a:r>
              <a:rPr lang="en-ID" dirty="0" err="1"/>
              <a:t>asumsikan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b="1" dirty="0"/>
              <a:t>2 Unit Server</a:t>
            </a:r>
            <a:r>
              <a:rPr lang="en-ID" dirty="0"/>
              <a:t> yang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(</a:t>
            </a:r>
            <a:r>
              <a:rPr lang="en-ID" dirty="0" err="1"/>
              <a:t>biar</a:t>
            </a:r>
            <a:r>
              <a:rPr lang="en-ID" dirty="0"/>
              <a:t>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mati</a:t>
            </a:r>
            <a:r>
              <a:rPr lang="en-ID" dirty="0"/>
              <a:t>, </a:t>
            </a:r>
            <a:r>
              <a:rPr lang="en-ID" dirty="0" err="1"/>
              <a:t>satunya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).</a:t>
            </a:r>
          </a:p>
          <a:p>
            <a:pPr lvl="0" algn="just">
              <a:lnSpc>
                <a:spcPct val="150000"/>
              </a:lnSpc>
            </a:pPr>
            <a:r>
              <a:rPr lang="en-ID" b="1" dirty="0"/>
              <a:t>Processor :</a:t>
            </a:r>
            <a:r>
              <a:rPr lang="en-ID" dirty="0"/>
              <a:t> 2x Intel Xeon Silver </a:t>
            </a:r>
            <a:r>
              <a:rPr lang="en-ID" dirty="0" err="1"/>
              <a:t>atau</a:t>
            </a:r>
            <a:r>
              <a:rPr lang="en-ID" dirty="0"/>
              <a:t> Gold (Total minimal 16-32 Cores)</a:t>
            </a:r>
          </a:p>
          <a:p>
            <a:pPr marL="152400" lvl="0" indent="0" algn="just">
              <a:lnSpc>
                <a:spcPct val="150000"/>
              </a:lnSpc>
              <a:buNone/>
            </a:pPr>
            <a:r>
              <a:rPr lang="en-ID" dirty="0"/>
              <a:t>	a. Supaya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memproses</a:t>
            </a:r>
            <a:r>
              <a:rPr lang="en-ID" dirty="0"/>
              <a:t> </a:t>
            </a:r>
            <a:r>
              <a:rPr lang="en-ID" dirty="0" err="1"/>
              <a:t>ribuan</a:t>
            </a:r>
            <a:r>
              <a:rPr lang="en-ID" dirty="0"/>
              <a:t> </a:t>
            </a:r>
            <a:r>
              <a:rPr lang="en-ID" dirty="0" err="1"/>
              <a:t>permintaan</a:t>
            </a:r>
            <a:r>
              <a:rPr lang="en-ID" dirty="0"/>
              <a:t> login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bersamaan</a:t>
            </a:r>
            <a:r>
              <a:rPr lang="en-ID" dirty="0"/>
              <a:t>.</a:t>
            </a:r>
          </a:p>
          <a:p>
            <a:pPr marL="152400" lvl="0" indent="0" algn="just">
              <a:lnSpc>
                <a:spcPct val="150000"/>
              </a:lnSpc>
              <a:buNone/>
            </a:pPr>
            <a:r>
              <a:rPr lang="en-ID" b="1" dirty="0"/>
              <a:t>2.       RAM (Memori):</a:t>
            </a:r>
            <a:r>
              <a:rPr lang="en-ID" dirty="0"/>
              <a:t> 64GB </a:t>
            </a:r>
            <a:r>
              <a:rPr lang="en-ID" dirty="0" err="1"/>
              <a:t>atau</a:t>
            </a:r>
            <a:r>
              <a:rPr lang="en-ID" dirty="0"/>
              <a:t> 128GB DDR4 ECC.</a:t>
            </a:r>
          </a:p>
          <a:p>
            <a:pPr marL="152400" lvl="0" indent="0" algn="just">
              <a:lnSpc>
                <a:spcPct val="150000"/>
              </a:lnSpc>
              <a:buNone/>
            </a:pPr>
            <a:r>
              <a:rPr lang="en-ID" dirty="0"/>
              <a:t>	a. E-Learning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di </a:t>
            </a:r>
            <a:r>
              <a:rPr lang="en-ID" dirty="0" err="1"/>
              <a:t>memori</a:t>
            </a:r>
            <a:r>
              <a:rPr lang="en-ID" dirty="0"/>
              <a:t>, </a:t>
            </a:r>
            <a:r>
              <a:rPr lang="en-ID" dirty="0" err="1"/>
              <a:t>apalagi</a:t>
            </a:r>
            <a:r>
              <a:rPr lang="en-ID" dirty="0"/>
              <a:t>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yang </a:t>
            </a:r>
            <a:r>
              <a:rPr lang="en-ID" dirty="0" err="1"/>
              <a:t>buka</a:t>
            </a:r>
            <a:r>
              <a:rPr lang="en-ID" dirty="0"/>
              <a:t> </a:t>
            </a:r>
            <a:r>
              <a:rPr lang="en-ID" dirty="0" err="1"/>
              <a:t>materi</a:t>
            </a:r>
            <a:r>
              <a:rPr lang="en-ID" dirty="0"/>
              <a:t> video/</a:t>
            </a:r>
            <a:r>
              <a:rPr lang="en-ID" dirty="0" err="1"/>
              <a:t>kuis</a:t>
            </a:r>
            <a:r>
              <a:rPr lang="en-ID" dirty="0"/>
              <a:t> </a:t>
            </a:r>
            <a:r>
              <a:rPr lang="en-ID" dirty="0" err="1"/>
              <a:t>bareng</a:t>
            </a:r>
            <a:r>
              <a:rPr lang="en-ID" dirty="0"/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D" b="1" dirty="0"/>
              <a:t>Storage (</a:t>
            </a:r>
            <a:r>
              <a:rPr lang="en-ID" b="1" dirty="0" err="1"/>
              <a:t>Penyimpanan</a:t>
            </a:r>
            <a:r>
              <a:rPr lang="en-ID" b="1" dirty="0"/>
              <a:t>):</a:t>
            </a:r>
            <a:r>
              <a:rPr lang="en-ID" dirty="0"/>
              <a:t> 2TB SSD </a:t>
            </a:r>
            <a:r>
              <a:rPr lang="en-ID" dirty="0" err="1"/>
              <a:t>NVMe</a:t>
            </a:r>
            <a:r>
              <a:rPr lang="en-ID" dirty="0"/>
              <a:t>.</a:t>
            </a:r>
          </a:p>
          <a:p>
            <a:pPr marL="152400" lvl="0" indent="0" algn="just">
              <a:lnSpc>
                <a:spcPct val="150000"/>
              </a:lnSpc>
              <a:buNone/>
            </a:pPr>
            <a:r>
              <a:rPr lang="en-ID" dirty="0"/>
              <a:t>	a. SSD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dibanding</a:t>
            </a:r>
            <a:r>
              <a:rPr lang="en-ID" dirty="0"/>
              <a:t> </a:t>
            </a:r>
            <a:r>
              <a:rPr lang="en-ID" dirty="0" err="1"/>
              <a:t>harddisk</a:t>
            </a:r>
            <a:r>
              <a:rPr lang="en-ID" dirty="0"/>
              <a:t> </a:t>
            </a:r>
            <a:r>
              <a:rPr lang="en-ID" dirty="0" err="1"/>
              <a:t>biasa</a:t>
            </a:r>
            <a:r>
              <a:rPr lang="en-ID" dirty="0"/>
              <a:t>,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buka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 E-Learning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pakai</a:t>
            </a:r>
            <a:r>
              <a:rPr lang="en-ID" dirty="0"/>
              <a:t> "loading" lama.</a:t>
            </a:r>
          </a:p>
          <a:p>
            <a:pPr lvl="0" algn="just">
              <a:lnSpc>
                <a:spcPct val="150000"/>
              </a:lnSpc>
            </a:pPr>
            <a:r>
              <a:rPr lang="en-ID" b="1" dirty="0"/>
              <a:t>Network Card:</a:t>
            </a:r>
            <a:r>
              <a:rPr lang="en-ID" dirty="0"/>
              <a:t> Dual Port 10Gbps Ethernet.</a:t>
            </a:r>
          </a:p>
          <a:p>
            <a:pPr marL="152400" lvl="0" indent="0" algn="just">
              <a:lnSpc>
                <a:spcPct val="150000"/>
              </a:lnSpc>
              <a:buNone/>
            </a:pPr>
            <a:r>
              <a:rPr lang="en-ID" dirty="0"/>
              <a:t>	a. Supaya </a:t>
            </a:r>
            <a:r>
              <a:rPr lang="en-ID" dirty="0" err="1"/>
              <a:t>aliran</a:t>
            </a:r>
            <a:r>
              <a:rPr lang="en-ID" dirty="0"/>
              <a:t> data </a:t>
            </a:r>
            <a:r>
              <a:rPr lang="en-ID" dirty="0" err="1"/>
              <a:t>ke</a:t>
            </a:r>
            <a:r>
              <a:rPr lang="en-ID" dirty="0"/>
              <a:t> internet </a:t>
            </a:r>
            <a:r>
              <a:rPr lang="en-ID" dirty="0" err="1"/>
              <a:t>kampus</a:t>
            </a:r>
            <a:r>
              <a:rPr lang="en-ID" dirty="0"/>
              <a:t> sangat </a:t>
            </a:r>
            <a:r>
              <a:rPr lang="en-ID" dirty="0" err="1"/>
              <a:t>lancar</a:t>
            </a:r>
            <a:r>
              <a:rPr lang="en-ID" dirty="0"/>
              <a:t>.</a:t>
            </a:r>
          </a:p>
          <a:p>
            <a:pPr marL="152400" indent="0">
              <a:lnSpc>
                <a:spcPct val="150000"/>
              </a:lnSpc>
              <a:buNone/>
            </a:pPr>
            <a:endParaRPr dirty="0">
              <a:solidFill>
                <a:schemeClr val="lt1"/>
              </a:solidFill>
            </a:endParaRPr>
          </a:p>
        </p:txBody>
      </p:sp>
      <p:grpSp>
        <p:nvGrpSpPr>
          <p:cNvPr id="165" name="Google Shape;165;p32">
            <a:extLst>
              <a:ext uri="{FF2B5EF4-FFF2-40B4-BE49-F238E27FC236}">
                <a16:creationId xmlns:a16="http://schemas.microsoft.com/office/drawing/2014/main" id="{D8790618-040D-EB94-0117-57E620A0647E}"/>
              </a:ext>
            </a:extLst>
          </p:cNvPr>
          <p:cNvGrpSpPr/>
          <p:nvPr/>
        </p:nvGrpSpPr>
        <p:grpSpPr>
          <a:xfrm>
            <a:off x="405288" y="860175"/>
            <a:ext cx="171000" cy="830850"/>
            <a:chOff x="5816800" y="2392275"/>
            <a:chExt cx="171000" cy="830850"/>
          </a:xfrm>
        </p:grpSpPr>
        <p:sp>
          <p:nvSpPr>
            <p:cNvPr id="166" name="Google Shape;166;p32">
              <a:extLst>
                <a:ext uri="{FF2B5EF4-FFF2-40B4-BE49-F238E27FC236}">
                  <a16:creationId xmlns:a16="http://schemas.microsoft.com/office/drawing/2014/main" id="{87E49E00-9B34-7F25-D195-C9917CD8C236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32">
              <a:extLst>
                <a:ext uri="{FF2B5EF4-FFF2-40B4-BE49-F238E27FC236}">
                  <a16:creationId xmlns:a16="http://schemas.microsoft.com/office/drawing/2014/main" id="{DB7C8929-6685-9B39-ABE7-F721BD9D1ADD}"/>
                </a:ext>
              </a:extLst>
            </p:cNvPr>
            <p:cNvCxnSpPr>
              <a:stCxn id="166" idx="2"/>
              <a:endCxn id="163" idx="1"/>
            </p:cNvCxnSpPr>
            <p:nvPr/>
          </p:nvCxnSpPr>
          <p:spPr>
            <a:xfrm rot="10800000" flipH="1">
              <a:off x="5816800" y="2392275"/>
              <a:ext cx="171000" cy="7959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32">
            <a:extLst>
              <a:ext uri="{FF2B5EF4-FFF2-40B4-BE49-F238E27FC236}">
                <a16:creationId xmlns:a16="http://schemas.microsoft.com/office/drawing/2014/main" id="{CA4EADEA-5060-D99F-E2B0-28918170AA67}"/>
              </a:ext>
            </a:extLst>
          </p:cNvPr>
          <p:cNvGrpSpPr/>
          <p:nvPr/>
        </p:nvGrpSpPr>
        <p:grpSpPr>
          <a:xfrm flipH="1">
            <a:off x="8567713" y="860175"/>
            <a:ext cx="171000" cy="3515250"/>
            <a:chOff x="5816800" y="-292125"/>
            <a:chExt cx="171000" cy="3515250"/>
          </a:xfrm>
        </p:grpSpPr>
        <p:sp>
          <p:nvSpPr>
            <p:cNvPr id="169" name="Google Shape;169;p32">
              <a:extLst>
                <a:ext uri="{FF2B5EF4-FFF2-40B4-BE49-F238E27FC236}">
                  <a16:creationId xmlns:a16="http://schemas.microsoft.com/office/drawing/2014/main" id="{1D51743A-A7A9-4D21-4612-331ECF780ACC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" name="Google Shape;170;p32">
              <a:extLst>
                <a:ext uri="{FF2B5EF4-FFF2-40B4-BE49-F238E27FC236}">
                  <a16:creationId xmlns:a16="http://schemas.microsoft.com/office/drawing/2014/main" id="{A7E8ED60-639F-F345-71B7-F53B5E510D16}"/>
                </a:ext>
              </a:extLst>
            </p:cNvPr>
            <p:cNvCxnSpPr>
              <a:stCxn id="169" idx="2"/>
              <a:endCxn id="163" idx="3"/>
            </p:cNvCxnSpPr>
            <p:nvPr/>
          </p:nvCxnSpPr>
          <p:spPr>
            <a:xfrm rot="10800000" flipH="1">
              <a:off x="5816800" y="-292125"/>
              <a:ext cx="171000" cy="34803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32">
            <a:extLst>
              <a:ext uri="{FF2B5EF4-FFF2-40B4-BE49-F238E27FC236}">
                <a16:creationId xmlns:a16="http://schemas.microsoft.com/office/drawing/2014/main" id="{3B65E90B-E5A7-37F7-031F-5AB57E76C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 err="1"/>
              <a:t>Spesifikasi</a:t>
            </a:r>
            <a:r>
              <a:rPr lang="en-ID" b="1" dirty="0"/>
              <a:t> di  DC </a:t>
            </a:r>
            <a:r>
              <a:rPr lang="en-ID" b="1" dirty="0" err="1"/>
              <a:t>Cibadak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393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6"/>
          <p:cNvSpPr/>
          <p:nvPr/>
        </p:nvSpPr>
        <p:spPr>
          <a:xfrm>
            <a:off x="7015736" y="3403503"/>
            <a:ext cx="2411400" cy="2244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46"/>
          <p:cNvSpPr/>
          <p:nvPr/>
        </p:nvSpPr>
        <p:spPr>
          <a:xfrm>
            <a:off x="-993271" y="3592579"/>
            <a:ext cx="2411400" cy="22443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6"/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9" name="Google Shape;699;p46"/>
          <p:cNvGrpSpPr/>
          <p:nvPr/>
        </p:nvGrpSpPr>
        <p:grpSpPr>
          <a:xfrm>
            <a:off x="405288" y="860175"/>
            <a:ext cx="171000" cy="3574050"/>
            <a:chOff x="5816800" y="2392275"/>
            <a:chExt cx="171000" cy="3574050"/>
          </a:xfrm>
        </p:grpSpPr>
        <p:sp>
          <p:nvSpPr>
            <p:cNvPr id="700" name="Google Shape;700;p46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01" name="Google Shape;701;p46"/>
            <p:cNvCxnSpPr>
              <a:cxnSpLocks/>
              <a:stCxn id="700" idx="2"/>
              <a:endCxn id="671" idx="1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02" name="Google Shape;702;p46"/>
          <p:cNvGrpSpPr/>
          <p:nvPr/>
        </p:nvGrpSpPr>
        <p:grpSpPr>
          <a:xfrm flipH="1">
            <a:off x="8567798" y="860175"/>
            <a:ext cx="171000" cy="3574050"/>
            <a:chOff x="5816800" y="2392275"/>
            <a:chExt cx="171000" cy="3574050"/>
          </a:xfrm>
        </p:grpSpPr>
        <p:sp>
          <p:nvSpPr>
            <p:cNvPr id="703" name="Google Shape;703;p46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04" name="Google Shape;704;p46"/>
            <p:cNvCxnSpPr>
              <a:cxnSpLocks/>
              <a:stCxn id="703" idx="2"/>
              <a:endCxn id="671" idx="3"/>
            </p:cNvCxnSpPr>
            <p:nvPr/>
          </p:nvCxnSpPr>
          <p:spPr>
            <a:xfrm rot="10800000" flipH="1">
              <a:off x="5816800" y="2392275"/>
              <a:ext cx="171000" cy="35391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5" name="Google Shape;705;p46"/>
          <p:cNvSpPr txBox="1">
            <a:spLocks noGrp="1"/>
          </p:cNvSpPr>
          <p:nvPr>
            <p:ph type="title"/>
          </p:nvPr>
        </p:nvSpPr>
        <p:spPr>
          <a:xfrm>
            <a:off x="840921" y="617847"/>
            <a:ext cx="76157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800" b="1" dirty="0">
                <a:solidFill>
                  <a:schemeClr val="tx1"/>
                </a:solidFill>
              </a:rPr>
              <a:t>Jalur Kabel (</a:t>
            </a:r>
            <a:r>
              <a:rPr lang="en-ID" sz="1800" b="1" dirty="0" err="1">
                <a:solidFill>
                  <a:schemeClr val="tx1"/>
                </a:solidFill>
              </a:rPr>
              <a:t>Topologi</a:t>
            </a:r>
            <a:r>
              <a:rPr lang="en-ID" sz="1800" b="1" dirty="0">
                <a:solidFill>
                  <a:schemeClr val="tx1"/>
                </a:solidFill>
              </a:rPr>
              <a:t> </a:t>
            </a:r>
            <a:r>
              <a:rPr lang="en-ID" sz="1800" b="1" dirty="0" err="1">
                <a:solidFill>
                  <a:schemeClr val="tx1"/>
                </a:solidFill>
              </a:rPr>
              <a:t>Jaringan</a:t>
            </a:r>
            <a:r>
              <a:rPr lang="en-ID" sz="1800" b="1" dirty="0">
                <a:solidFill>
                  <a:schemeClr val="tx1"/>
                </a:solidFill>
              </a:rPr>
              <a:t>) </a:t>
            </a:r>
            <a:r>
              <a:rPr lang="en-ID" sz="1800" b="1" dirty="0" err="1">
                <a:solidFill>
                  <a:schemeClr val="tx1"/>
                </a:solidFill>
              </a:rPr>
              <a:t>Sukabumi</a:t>
            </a:r>
            <a:r>
              <a:rPr lang="en-ID" sz="1800" b="1" dirty="0">
                <a:solidFill>
                  <a:schemeClr val="tx1"/>
                </a:solidFill>
              </a:rPr>
              <a:t> - </a:t>
            </a:r>
            <a:r>
              <a:rPr lang="en-ID" sz="1800" b="1" dirty="0" err="1">
                <a:solidFill>
                  <a:schemeClr val="tx1"/>
                </a:solidFill>
              </a:rPr>
              <a:t>Cibadak</a:t>
            </a:r>
            <a:br>
              <a:rPr lang="en-ID" dirty="0"/>
            </a:br>
            <a:endParaRPr dirty="0">
              <a:solidFill>
                <a:schemeClr val="dk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5F330-D93F-4A93-A3EB-63974D727774}"/>
              </a:ext>
            </a:extLst>
          </p:cNvPr>
          <p:cNvSpPr txBox="1"/>
          <p:nvPr/>
        </p:nvSpPr>
        <p:spPr>
          <a:xfrm>
            <a:off x="669471" y="1534886"/>
            <a:ext cx="75519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>
                <a:solidFill>
                  <a:schemeClr val="bg1"/>
                </a:solidFill>
              </a:rPr>
              <a:t>Kita </a:t>
            </a:r>
            <a:r>
              <a:rPr lang="en-ID" dirty="0" err="1">
                <a:solidFill>
                  <a:schemeClr val="bg1"/>
                </a:solidFill>
              </a:rPr>
              <a:t>perlu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menyambungkan</a:t>
            </a:r>
            <a:r>
              <a:rPr lang="en-ID" dirty="0">
                <a:solidFill>
                  <a:schemeClr val="bg1"/>
                </a:solidFill>
              </a:rPr>
              <a:t> "Toko Utama" </a:t>
            </a:r>
            <a:r>
              <a:rPr lang="en-ID" dirty="0" err="1">
                <a:solidFill>
                  <a:schemeClr val="bg1"/>
                </a:solidFill>
              </a:rPr>
              <a:t>dengan</a:t>
            </a:r>
            <a:r>
              <a:rPr lang="en-ID" dirty="0">
                <a:solidFill>
                  <a:schemeClr val="bg1"/>
                </a:solidFill>
              </a:rPr>
              <a:t> "Tabel Cadangan" di </a:t>
            </a:r>
            <a:r>
              <a:rPr lang="en-ID" dirty="0" err="1">
                <a:solidFill>
                  <a:schemeClr val="bg1"/>
                </a:solidFill>
              </a:rPr>
              <a:t>Sukabumi</a:t>
            </a:r>
            <a:r>
              <a:rPr lang="en-ID" dirty="0">
                <a:solidFill>
                  <a:schemeClr val="bg1"/>
                </a:solidFill>
              </a:rPr>
              <a:t> (PT Anti </a:t>
            </a:r>
            <a:r>
              <a:rPr lang="en-ID" dirty="0" err="1">
                <a:solidFill>
                  <a:schemeClr val="bg1"/>
                </a:solidFill>
              </a:rPr>
              <a:t>DownTime</a:t>
            </a:r>
            <a:r>
              <a:rPr lang="en-ID" dirty="0">
                <a:solidFill>
                  <a:schemeClr val="bg1"/>
                </a:solidFill>
              </a:rPr>
              <a:t>).</a:t>
            </a:r>
          </a:p>
          <a:p>
            <a:endParaRPr lang="en-ID" dirty="0">
              <a:solidFill>
                <a:schemeClr val="bg1"/>
              </a:solidFill>
            </a:endParaRPr>
          </a:p>
          <a:p>
            <a:pPr lvl="0"/>
            <a:r>
              <a:rPr lang="en-ID" b="1" dirty="0">
                <a:solidFill>
                  <a:schemeClr val="bg1"/>
                </a:solidFill>
              </a:rPr>
              <a:t>Jalur yang </a:t>
            </a:r>
            <a:r>
              <a:rPr lang="en-ID" b="1" dirty="0" err="1">
                <a:solidFill>
                  <a:schemeClr val="bg1"/>
                </a:solidFill>
              </a:rPr>
              <a:t>dipakai</a:t>
            </a:r>
            <a:r>
              <a:rPr lang="en-ID" b="1" dirty="0">
                <a:solidFill>
                  <a:schemeClr val="bg1"/>
                </a:solidFill>
              </a:rPr>
              <a:t>: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b="1" dirty="0">
                <a:solidFill>
                  <a:schemeClr val="bg1"/>
                </a:solidFill>
              </a:rPr>
              <a:t>VPN Site-to-Site.</a:t>
            </a:r>
          </a:p>
          <a:p>
            <a:pPr lvl="0"/>
            <a:endParaRPr lang="en-ID" dirty="0">
              <a:solidFill>
                <a:schemeClr val="bg1"/>
              </a:solidFill>
            </a:endParaRPr>
          </a:p>
          <a:p>
            <a:pPr lvl="0"/>
            <a:r>
              <a:rPr lang="en-ID" b="1" dirty="0">
                <a:solidFill>
                  <a:schemeClr val="bg1"/>
                </a:solidFill>
              </a:rPr>
              <a:t>Bahasa </a:t>
            </a:r>
            <a:r>
              <a:rPr lang="en-ID" b="1" dirty="0" err="1">
                <a:solidFill>
                  <a:schemeClr val="bg1"/>
                </a:solidFill>
              </a:rPr>
              <a:t>simpelnya</a:t>
            </a:r>
            <a:r>
              <a:rPr lang="en-ID" b="1" dirty="0">
                <a:solidFill>
                  <a:schemeClr val="bg1"/>
                </a:solidFill>
              </a:rPr>
              <a:t>:</a:t>
            </a:r>
            <a:r>
              <a:rPr lang="en-ID" dirty="0">
                <a:solidFill>
                  <a:schemeClr val="bg1"/>
                </a:solidFill>
              </a:rPr>
              <a:t> Kita gak </a:t>
            </a:r>
            <a:r>
              <a:rPr lang="en-ID" dirty="0" err="1">
                <a:solidFill>
                  <a:schemeClr val="bg1"/>
                </a:solidFill>
              </a:rPr>
              <a:t>perlu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tarik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kabel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fisik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sendiri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Cibadak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</a:t>
            </a:r>
            <a:r>
              <a:rPr lang="en-ID" dirty="0">
                <a:solidFill>
                  <a:schemeClr val="bg1"/>
                </a:solidFill>
              </a:rPr>
              <a:t> Kota </a:t>
            </a:r>
            <a:r>
              <a:rPr lang="en-ID" dirty="0" err="1">
                <a:solidFill>
                  <a:schemeClr val="bg1"/>
                </a:solidFill>
              </a:rPr>
              <a:t>Sukabumi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karena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itu</a:t>
            </a:r>
            <a:r>
              <a:rPr lang="en-ID" dirty="0">
                <a:solidFill>
                  <a:schemeClr val="bg1"/>
                </a:solidFill>
              </a:rPr>
              <a:t> mahal </a:t>
            </a:r>
            <a:r>
              <a:rPr lang="en-ID" dirty="0" err="1">
                <a:solidFill>
                  <a:schemeClr val="bg1"/>
                </a:solidFill>
              </a:rPr>
              <a:t>sekali</a:t>
            </a:r>
            <a:r>
              <a:rPr lang="en-ID" dirty="0">
                <a:solidFill>
                  <a:schemeClr val="bg1"/>
                </a:solidFill>
              </a:rPr>
              <a:t>. Kita </a:t>
            </a:r>
            <a:r>
              <a:rPr lang="en-ID" dirty="0" err="1">
                <a:solidFill>
                  <a:schemeClr val="bg1"/>
                </a:solidFill>
              </a:rPr>
              <a:t>pakai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jalur</a:t>
            </a:r>
            <a:r>
              <a:rPr lang="en-ID" dirty="0">
                <a:solidFill>
                  <a:schemeClr val="bg1"/>
                </a:solidFill>
              </a:rPr>
              <a:t> internet </a:t>
            </a:r>
            <a:r>
              <a:rPr lang="en-ID" dirty="0" err="1">
                <a:solidFill>
                  <a:schemeClr val="bg1"/>
                </a:solidFill>
              </a:rPr>
              <a:t>biasa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tapi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kita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buatkan</a:t>
            </a:r>
            <a:r>
              <a:rPr lang="en-ID" dirty="0">
                <a:solidFill>
                  <a:schemeClr val="bg1"/>
                </a:solidFill>
              </a:rPr>
              <a:t> "</a:t>
            </a:r>
            <a:r>
              <a:rPr lang="en-ID" dirty="0" err="1">
                <a:solidFill>
                  <a:schemeClr val="bg1"/>
                </a:solidFill>
              </a:rPr>
              <a:t>terowongan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rahasia</a:t>
            </a:r>
            <a:r>
              <a:rPr lang="en-ID" dirty="0">
                <a:solidFill>
                  <a:schemeClr val="bg1"/>
                </a:solidFill>
              </a:rPr>
              <a:t>" (VPN) </a:t>
            </a:r>
            <a:r>
              <a:rPr lang="en-ID" dirty="0" err="1">
                <a:solidFill>
                  <a:schemeClr val="bg1"/>
                </a:solidFill>
              </a:rPr>
              <a:t>supaya</a:t>
            </a:r>
            <a:r>
              <a:rPr lang="en-ID" dirty="0">
                <a:solidFill>
                  <a:schemeClr val="bg1"/>
                </a:solidFill>
              </a:rPr>
              <a:t> data </a:t>
            </a:r>
            <a:r>
              <a:rPr lang="en-ID" dirty="0" err="1">
                <a:solidFill>
                  <a:schemeClr val="bg1"/>
                </a:solidFill>
              </a:rPr>
              <a:t>mahasiswa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aman</a:t>
            </a:r>
            <a:r>
              <a:rPr lang="en-ID" dirty="0">
                <a:solidFill>
                  <a:schemeClr val="bg1"/>
                </a:solidFill>
              </a:rPr>
              <a:t> dan </a:t>
            </a:r>
            <a:r>
              <a:rPr lang="en-ID" dirty="0" err="1">
                <a:solidFill>
                  <a:schemeClr val="bg1"/>
                </a:solidFill>
              </a:rPr>
              <a:t>tidak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bisa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diintip</a:t>
            </a:r>
            <a:r>
              <a:rPr lang="en-ID" dirty="0">
                <a:solidFill>
                  <a:schemeClr val="bg1"/>
                </a:solidFill>
              </a:rPr>
              <a:t> orang lain </a:t>
            </a:r>
            <a:r>
              <a:rPr lang="en-ID" dirty="0" err="1">
                <a:solidFill>
                  <a:schemeClr val="bg1"/>
                </a:solidFill>
              </a:rPr>
              <a:t>saat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dikirim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</a:t>
            </a:r>
            <a:r>
              <a:rPr lang="en-ID" dirty="0">
                <a:solidFill>
                  <a:schemeClr val="bg1"/>
                </a:solidFill>
              </a:rPr>
              <a:t> Cloud </a:t>
            </a:r>
            <a:r>
              <a:rPr lang="en-ID" dirty="0" err="1">
                <a:solidFill>
                  <a:schemeClr val="bg1"/>
                </a:solidFill>
              </a:rPr>
              <a:t>Sukabumi</a:t>
            </a:r>
            <a:r>
              <a:rPr lang="en-ID" dirty="0">
                <a:solidFill>
                  <a:schemeClr val="bg1"/>
                </a:solidFill>
              </a:rPr>
              <a:t>.</a:t>
            </a:r>
          </a:p>
          <a:p>
            <a:endParaRPr lang="en-ID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/>
          <p:nvPr/>
        </p:nvSpPr>
        <p:spPr>
          <a:xfrm>
            <a:off x="4905500" y="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6" name="Google Shape;736;p49"/>
          <p:cNvSpPr/>
          <p:nvPr/>
        </p:nvSpPr>
        <p:spPr>
          <a:xfrm>
            <a:off x="771378" y="167700"/>
            <a:ext cx="469778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9"/>
          <p:cNvSpPr txBox="1">
            <a:spLocks noGrp="1"/>
          </p:cNvSpPr>
          <p:nvPr>
            <p:ph type="body" idx="1"/>
          </p:nvPr>
        </p:nvSpPr>
        <p:spPr>
          <a:xfrm>
            <a:off x="545383" y="744224"/>
            <a:ext cx="4923775" cy="27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5100" indent="0" algn="just">
              <a:buNone/>
            </a:pPr>
            <a:r>
              <a:rPr lang="en-ID" sz="1200" b="1" dirty="0" err="1"/>
              <a:t>Berikut</a:t>
            </a:r>
            <a:r>
              <a:rPr lang="en-ID" sz="1200" b="1" dirty="0"/>
              <a:t> </a:t>
            </a:r>
            <a:r>
              <a:rPr lang="en-ID" sz="1200" b="1" dirty="0" err="1"/>
              <a:t>ini</a:t>
            </a:r>
            <a:r>
              <a:rPr lang="en-ID" sz="1200" b="1" dirty="0"/>
              <a:t> yang </a:t>
            </a:r>
            <a:r>
              <a:rPr lang="en-ID" sz="1200" b="1" dirty="0" err="1"/>
              <a:t>wajib</a:t>
            </a:r>
            <a:r>
              <a:rPr lang="en-ID" sz="1200" b="1" dirty="0"/>
              <a:t> </a:t>
            </a:r>
            <a:r>
              <a:rPr lang="en-ID" sz="1200" b="1" dirty="0" err="1"/>
              <a:t>ada</a:t>
            </a:r>
            <a:r>
              <a:rPr lang="en-ID" sz="1200" b="1" dirty="0"/>
              <a:t> di Cloud:</a:t>
            </a:r>
            <a:endParaRPr lang="en-ID" sz="1200" dirty="0"/>
          </a:p>
          <a:p>
            <a:pPr lvl="0" algn="just"/>
            <a:r>
              <a:rPr lang="en-ID" sz="1200" b="1" dirty="0"/>
              <a:t>Database Standby (Wajib):</a:t>
            </a:r>
            <a:r>
              <a:rPr lang="en-ID" sz="1200" dirty="0"/>
              <a:t> Database di Cloud </a:t>
            </a:r>
            <a:r>
              <a:rPr lang="en-ID" sz="1200" dirty="0" err="1"/>
              <a:t>harus</a:t>
            </a:r>
            <a:r>
              <a:rPr lang="en-ID" sz="1200" dirty="0"/>
              <a:t> </a:t>
            </a:r>
            <a:r>
              <a:rPr lang="en-ID" sz="1200" dirty="0" err="1"/>
              <a:t>selalu</a:t>
            </a:r>
            <a:r>
              <a:rPr lang="en-ID" sz="1200" dirty="0"/>
              <a:t> </a:t>
            </a:r>
            <a:r>
              <a:rPr lang="en-ID" sz="1200" dirty="0" err="1"/>
              <a:t>menerima</a:t>
            </a:r>
            <a:r>
              <a:rPr lang="en-ID" sz="1200" dirty="0"/>
              <a:t> </a:t>
            </a:r>
            <a:r>
              <a:rPr lang="en-ID" sz="1200" dirty="0" err="1"/>
              <a:t>kiriman</a:t>
            </a:r>
            <a:r>
              <a:rPr lang="en-ID" sz="1200" dirty="0"/>
              <a:t> data </a:t>
            </a:r>
            <a:r>
              <a:rPr lang="en-ID" sz="1200" dirty="0" err="1"/>
              <a:t>terbaru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Cibadak</a:t>
            </a:r>
            <a:r>
              <a:rPr lang="en-ID" sz="1200" dirty="0"/>
              <a:t> </a:t>
            </a:r>
            <a:r>
              <a:rPr lang="en-ID" sz="1200" dirty="0" err="1"/>
              <a:t>setiap</a:t>
            </a:r>
            <a:r>
              <a:rPr lang="en-ID" sz="1200" dirty="0"/>
              <a:t> </a:t>
            </a:r>
            <a:r>
              <a:rPr lang="en-ID" sz="1200" dirty="0" err="1"/>
              <a:t>detik</a:t>
            </a:r>
            <a:r>
              <a:rPr lang="en-ID" sz="1200" dirty="0"/>
              <a:t>. Jadi </a:t>
            </a:r>
            <a:r>
              <a:rPr lang="en-ID" sz="1200" dirty="0" err="1"/>
              <a:t>kalau</a:t>
            </a:r>
            <a:r>
              <a:rPr lang="en-ID" sz="1200" dirty="0"/>
              <a:t> DC </a:t>
            </a:r>
            <a:r>
              <a:rPr lang="en-ID" sz="1200" dirty="0" err="1"/>
              <a:t>Cibadak</a:t>
            </a:r>
            <a:r>
              <a:rPr lang="en-ID" sz="1200" dirty="0"/>
              <a:t> </a:t>
            </a:r>
            <a:r>
              <a:rPr lang="en-ID" sz="1200" dirty="0" err="1"/>
              <a:t>mati</a:t>
            </a:r>
            <a:r>
              <a:rPr lang="en-ID" sz="1200" dirty="0"/>
              <a:t> jam 10.00, data di Cloud </a:t>
            </a:r>
            <a:r>
              <a:rPr lang="en-ID" sz="1200" dirty="0" err="1"/>
              <a:t>sudah</a:t>
            </a:r>
            <a:r>
              <a:rPr lang="en-ID" sz="1200" dirty="0"/>
              <a:t> </a:t>
            </a:r>
            <a:r>
              <a:rPr lang="en-ID" sz="1200" dirty="0" err="1"/>
              <a:t>ada</a:t>
            </a:r>
            <a:r>
              <a:rPr lang="en-ID" sz="1200" dirty="0"/>
              <a:t> </a:t>
            </a:r>
            <a:r>
              <a:rPr lang="en-ID" sz="1200" dirty="0" err="1"/>
              <a:t>sampai</a:t>
            </a:r>
            <a:r>
              <a:rPr lang="en-ID" sz="1200" dirty="0"/>
              <a:t> jam 09.59.</a:t>
            </a:r>
          </a:p>
          <a:p>
            <a:pPr lvl="0" algn="just"/>
            <a:r>
              <a:rPr lang="en-ID" sz="1200" b="1" dirty="0"/>
              <a:t>Storage Sync (Wajib):</a:t>
            </a:r>
            <a:r>
              <a:rPr lang="en-ID" sz="1200" dirty="0"/>
              <a:t> File </a:t>
            </a:r>
            <a:r>
              <a:rPr lang="en-ID" sz="1200" dirty="0" err="1"/>
              <a:t>tugas</a:t>
            </a:r>
            <a:r>
              <a:rPr lang="en-ID" sz="1200" dirty="0"/>
              <a:t> </a:t>
            </a:r>
            <a:r>
              <a:rPr lang="en-ID" sz="1200" dirty="0" err="1"/>
              <a:t>mahasiswa</a:t>
            </a:r>
            <a:r>
              <a:rPr lang="en-ID" sz="1200" dirty="0"/>
              <a:t> </a:t>
            </a:r>
            <a:r>
              <a:rPr lang="en-ID" sz="1200" dirty="0" err="1"/>
              <a:t>harus</a:t>
            </a:r>
            <a:r>
              <a:rPr lang="en-ID" sz="1200" dirty="0"/>
              <a:t> </a:t>
            </a:r>
            <a:r>
              <a:rPr lang="en-ID" sz="1200" dirty="0" err="1"/>
              <a:t>dikopi</a:t>
            </a:r>
            <a:r>
              <a:rPr lang="en-ID" sz="1200" dirty="0"/>
              <a:t> </a:t>
            </a:r>
            <a:r>
              <a:rPr lang="en-ID" sz="1200" dirty="0" err="1"/>
              <a:t>berkala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Cloud.</a:t>
            </a:r>
          </a:p>
          <a:p>
            <a:pPr lvl="0" algn="just"/>
            <a:r>
              <a:rPr lang="en-ID" sz="1200" b="1" dirty="0"/>
              <a:t>Server </a:t>
            </a:r>
            <a:r>
              <a:rPr lang="en-ID" sz="1200" b="1" dirty="0" err="1"/>
              <a:t>Aplikasi</a:t>
            </a:r>
            <a:r>
              <a:rPr lang="en-ID" sz="1200" b="1" dirty="0"/>
              <a:t> "Kecil" (</a:t>
            </a:r>
            <a:r>
              <a:rPr lang="en-ID" sz="1200" b="1" dirty="0" err="1"/>
              <a:t>Pemanasan</a:t>
            </a:r>
            <a:r>
              <a:rPr lang="en-ID" sz="1200" b="1" dirty="0"/>
              <a:t>):</a:t>
            </a:r>
            <a:r>
              <a:rPr lang="en-ID" sz="1200" dirty="0"/>
              <a:t> Kita </a:t>
            </a:r>
            <a:r>
              <a:rPr lang="en-ID" sz="1200" dirty="0" err="1"/>
              <a:t>sewa</a:t>
            </a:r>
            <a:r>
              <a:rPr lang="en-ID" sz="1200" dirty="0"/>
              <a:t> server </a:t>
            </a:r>
            <a:r>
              <a:rPr lang="en-ID" sz="1200" dirty="0" err="1"/>
              <a:t>spek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dulu</a:t>
            </a:r>
            <a:r>
              <a:rPr lang="en-ID" sz="1200" dirty="0"/>
              <a:t> (yang </a:t>
            </a:r>
            <a:r>
              <a:rPr lang="en-ID" sz="1200" dirty="0" err="1"/>
              <a:t>penting</a:t>
            </a:r>
            <a:r>
              <a:rPr lang="en-ID" sz="1200" dirty="0"/>
              <a:t> nyala). </a:t>
            </a:r>
            <a:r>
              <a:rPr lang="en-ID" sz="1200" dirty="0" err="1"/>
              <a:t>Begitu</a:t>
            </a:r>
            <a:r>
              <a:rPr lang="en-ID" sz="1200" dirty="0"/>
              <a:t> </a:t>
            </a:r>
            <a:r>
              <a:rPr lang="en-ID" sz="1200" dirty="0" err="1"/>
              <a:t>ada</a:t>
            </a:r>
            <a:r>
              <a:rPr lang="en-ID" sz="1200" dirty="0"/>
              <a:t> </a:t>
            </a:r>
            <a:r>
              <a:rPr lang="en-ID" sz="1200" dirty="0" err="1"/>
              <a:t>bencana</a:t>
            </a:r>
            <a:r>
              <a:rPr lang="en-ID" sz="1200" dirty="0"/>
              <a:t> di </a:t>
            </a:r>
            <a:r>
              <a:rPr lang="en-ID" sz="1200" dirty="0" err="1"/>
              <a:t>Cibadak</a:t>
            </a:r>
            <a:r>
              <a:rPr lang="en-ID" sz="1200" dirty="0"/>
              <a:t>, </a:t>
            </a:r>
            <a:r>
              <a:rPr lang="en-ID" sz="1200" dirty="0" err="1"/>
              <a:t>baru</a:t>
            </a:r>
            <a:r>
              <a:rPr lang="en-ID" sz="1200" dirty="0"/>
              <a:t> </a:t>
            </a:r>
            <a:r>
              <a:rPr lang="en-ID" sz="1200" dirty="0" err="1"/>
              <a:t>kita</a:t>
            </a:r>
            <a:r>
              <a:rPr lang="en-ID" sz="1200" dirty="0"/>
              <a:t> </a:t>
            </a:r>
            <a:r>
              <a:rPr lang="en-ID" sz="1200" b="1" dirty="0"/>
              <a:t>Scale-Up</a:t>
            </a:r>
            <a:r>
              <a:rPr lang="en-ID" sz="1200" dirty="0"/>
              <a:t> (</a:t>
            </a:r>
            <a:r>
              <a:rPr lang="en-ID" sz="1200" dirty="0" err="1"/>
              <a:t>tingkatkan</a:t>
            </a:r>
            <a:r>
              <a:rPr lang="en-ID" sz="1200" dirty="0"/>
              <a:t> </a:t>
            </a:r>
            <a:r>
              <a:rPr lang="en-ID" sz="1200" dirty="0" err="1"/>
              <a:t>speknya</a:t>
            </a:r>
            <a:r>
              <a:rPr lang="en-ID" sz="1200" dirty="0"/>
              <a:t>) </a:t>
            </a:r>
            <a:r>
              <a:rPr lang="en-ID" sz="1200" dirty="0" err="1"/>
              <a:t>jadi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agar </a:t>
            </a:r>
            <a:r>
              <a:rPr lang="en-ID" sz="1200" dirty="0" err="1"/>
              <a:t>bisa</a:t>
            </a:r>
            <a:r>
              <a:rPr lang="en-ID" sz="1200" dirty="0"/>
              <a:t> </a:t>
            </a:r>
            <a:r>
              <a:rPr lang="en-ID" sz="1200" dirty="0" err="1"/>
              <a:t>menampung</a:t>
            </a:r>
            <a:r>
              <a:rPr lang="en-ID" sz="1200" dirty="0"/>
              <a:t> </a:t>
            </a:r>
            <a:r>
              <a:rPr lang="en-ID" sz="1200" dirty="0" err="1"/>
              <a:t>ribuan</a:t>
            </a:r>
            <a:r>
              <a:rPr lang="en-ID" sz="1200" dirty="0"/>
              <a:t> </a:t>
            </a:r>
            <a:r>
              <a:rPr lang="en-ID" sz="1200" dirty="0" err="1"/>
              <a:t>mahasiswa</a:t>
            </a:r>
            <a:r>
              <a:rPr lang="en-ID" sz="1200" dirty="0"/>
              <a:t>.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D" sz="1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/>
          </a:p>
        </p:txBody>
      </p:sp>
      <p:pic>
        <p:nvPicPr>
          <p:cNvPr id="738" name="Google Shape;73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603329" y="528114"/>
            <a:ext cx="3437593" cy="243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49"/>
          <p:cNvGrpSpPr/>
          <p:nvPr/>
        </p:nvGrpSpPr>
        <p:grpSpPr>
          <a:xfrm>
            <a:off x="405288" y="410100"/>
            <a:ext cx="366090" cy="4668085"/>
            <a:chOff x="5816800" y="1942201"/>
            <a:chExt cx="366090" cy="4024124"/>
          </a:xfrm>
        </p:grpSpPr>
        <p:sp>
          <p:nvSpPr>
            <p:cNvPr id="740" name="Google Shape;740;p49"/>
            <p:cNvSpPr/>
            <p:nvPr/>
          </p:nvSpPr>
          <p:spPr>
            <a:xfrm>
              <a:off x="5816800" y="58964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1" name="Google Shape;741;p49"/>
            <p:cNvCxnSpPr>
              <a:cxnSpLocks/>
              <a:stCxn id="740" idx="2"/>
              <a:endCxn id="736" idx="1"/>
            </p:cNvCxnSpPr>
            <p:nvPr/>
          </p:nvCxnSpPr>
          <p:spPr>
            <a:xfrm rot="10800000" flipH="1">
              <a:off x="5816800" y="1942201"/>
              <a:ext cx="366090" cy="3989175"/>
            </a:xfrm>
            <a:prstGeom prst="bentConnector3">
              <a:avLst>
                <a:gd name="adj1" fmla="val -6244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2" name="Google Shape;742;p49"/>
          <p:cNvSpPr txBox="1">
            <a:spLocks noGrp="1"/>
          </p:cNvSpPr>
          <p:nvPr>
            <p:ph type="title"/>
          </p:nvPr>
        </p:nvSpPr>
        <p:spPr>
          <a:xfrm>
            <a:off x="905550" y="183413"/>
            <a:ext cx="77601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1800" b="1" dirty="0" err="1">
                <a:solidFill>
                  <a:schemeClr val="tx1"/>
                </a:solidFill>
              </a:rPr>
              <a:t>Layanan</a:t>
            </a:r>
            <a:r>
              <a:rPr lang="en-ID" sz="1800" b="1" dirty="0">
                <a:solidFill>
                  <a:schemeClr val="tx1"/>
                </a:solidFill>
              </a:rPr>
              <a:t> Cloud di PT Anti </a:t>
            </a:r>
            <a:r>
              <a:rPr lang="en-ID" sz="1800" b="1" dirty="0" err="1">
                <a:solidFill>
                  <a:schemeClr val="tx1"/>
                </a:solidFill>
              </a:rPr>
              <a:t>DownTime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812D6-90BD-DADC-742C-6E4B05071E5A}"/>
              </a:ext>
            </a:extLst>
          </p:cNvPr>
          <p:cNvSpPr txBox="1"/>
          <p:nvPr/>
        </p:nvSpPr>
        <p:spPr>
          <a:xfrm>
            <a:off x="335092" y="3174214"/>
            <a:ext cx="8263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b="1" dirty="0">
                <a:solidFill>
                  <a:schemeClr val="bg1"/>
                </a:solidFill>
              </a:rPr>
              <a:t>Analisa </a:t>
            </a:r>
            <a:r>
              <a:rPr lang="en-ID" sz="1200" b="1" dirty="0" err="1">
                <a:solidFill>
                  <a:schemeClr val="bg1"/>
                </a:solidFill>
              </a:rPr>
              <a:t>Layanan</a:t>
            </a:r>
            <a:r>
              <a:rPr lang="en-ID" sz="1200" b="1" dirty="0">
                <a:solidFill>
                  <a:schemeClr val="bg1"/>
                </a:solidFill>
              </a:rPr>
              <a:t> :</a:t>
            </a:r>
          </a:p>
          <a:p>
            <a:endParaRPr lang="en-ID" sz="1200" dirty="0">
              <a:solidFill>
                <a:schemeClr val="bg1"/>
              </a:solidFill>
            </a:endParaRPr>
          </a:p>
          <a:p>
            <a:pPr lvl="0"/>
            <a:r>
              <a:rPr lang="en-ID" sz="1200" b="1" dirty="0">
                <a:solidFill>
                  <a:schemeClr val="bg1"/>
                </a:solidFill>
              </a:rPr>
              <a:t>VM Instance (Compute):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Pilih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paket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i="1" dirty="0">
                <a:solidFill>
                  <a:schemeClr val="bg1"/>
                </a:solidFill>
              </a:rPr>
              <a:t>Pay-as-you-go</a:t>
            </a:r>
            <a:r>
              <a:rPr lang="en-ID" sz="1200" dirty="0">
                <a:solidFill>
                  <a:schemeClr val="bg1"/>
                </a:solidFill>
              </a:rPr>
              <a:t>. Kita </a:t>
            </a:r>
            <a:r>
              <a:rPr lang="en-ID" sz="1200" dirty="0" err="1">
                <a:solidFill>
                  <a:schemeClr val="bg1"/>
                </a:solidFill>
              </a:rPr>
              <a:t>bayar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murah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saat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posisi</a:t>
            </a:r>
            <a:r>
              <a:rPr lang="en-ID" sz="1200" dirty="0">
                <a:solidFill>
                  <a:schemeClr val="bg1"/>
                </a:solidFill>
              </a:rPr>
              <a:t> standby, dan </a:t>
            </a:r>
            <a:r>
              <a:rPr lang="en-ID" sz="1200" dirty="0" err="1">
                <a:solidFill>
                  <a:schemeClr val="bg1"/>
                </a:solidFill>
              </a:rPr>
              <a:t>baru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bayar</a:t>
            </a:r>
            <a:r>
              <a:rPr lang="en-ID" sz="1200" dirty="0">
                <a:solidFill>
                  <a:schemeClr val="bg1"/>
                </a:solidFill>
              </a:rPr>
              <a:t> mahal </a:t>
            </a:r>
            <a:r>
              <a:rPr lang="en-ID" sz="1200" dirty="0" err="1">
                <a:solidFill>
                  <a:schemeClr val="bg1"/>
                </a:solidFill>
              </a:rPr>
              <a:t>saat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servernya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kita</a:t>
            </a:r>
            <a:r>
              <a:rPr lang="en-ID" sz="1200" dirty="0">
                <a:solidFill>
                  <a:schemeClr val="bg1"/>
                </a:solidFill>
              </a:rPr>
              <a:t> "</a:t>
            </a:r>
            <a:r>
              <a:rPr lang="en-ID" sz="1200" dirty="0" err="1">
                <a:solidFill>
                  <a:schemeClr val="bg1"/>
                </a:solidFill>
              </a:rPr>
              <a:t>besarkan</a:t>
            </a:r>
            <a:r>
              <a:rPr lang="en-ID" sz="1200" dirty="0">
                <a:solidFill>
                  <a:schemeClr val="bg1"/>
                </a:solidFill>
              </a:rPr>
              <a:t>" </a:t>
            </a:r>
            <a:r>
              <a:rPr lang="en-ID" sz="1200" dirty="0" err="1">
                <a:solidFill>
                  <a:schemeClr val="bg1"/>
                </a:solidFill>
              </a:rPr>
              <a:t>ketika</a:t>
            </a:r>
            <a:r>
              <a:rPr lang="en-ID" sz="1200" dirty="0">
                <a:solidFill>
                  <a:schemeClr val="bg1"/>
                </a:solidFill>
              </a:rPr>
              <a:t> DC </a:t>
            </a:r>
            <a:r>
              <a:rPr lang="en-ID" sz="1200" dirty="0" err="1">
                <a:solidFill>
                  <a:schemeClr val="bg1"/>
                </a:solidFill>
              </a:rPr>
              <a:t>Cibadak</a:t>
            </a:r>
            <a:r>
              <a:rPr lang="en-ID" sz="1200" dirty="0">
                <a:solidFill>
                  <a:schemeClr val="bg1"/>
                </a:solidFill>
              </a:rPr>
              <a:t> down.</a:t>
            </a:r>
          </a:p>
          <a:p>
            <a:pPr lvl="0"/>
            <a:r>
              <a:rPr lang="en-ID" sz="1200" b="1" dirty="0">
                <a:solidFill>
                  <a:schemeClr val="bg1"/>
                </a:solidFill>
              </a:rPr>
              <a:t>Object Storage:</a:t>
            </a:r>
            <a:r>
              <a:rPr lang="en-ID" sz="1200" dirty="0">
                <a:solidFill>
                  <a:schemeClr val="bg1"/>
                </a:solidFill>
              </a:rPr>
              <a:t> Pakai </a:t>
            </a:r>
            <a:r>
              <a:rPr lang="en-ID" sz="1200" dirty="0" err="1">
                <a:solidFill>
                  <a:schemeClr val="bg1"/>
                </a:solidFill>
              </a:rPr>
              <a:t>ini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untuk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simpan</a:t>
            </a:r>
            <a:r>
              <a:rPr lang="en-ID" sz="1200" dirty="0">
                <a:solidFill>
                  <a:schemeClr val="bg1"/>
                </a:solidFill>
              </a:rPr>
              <a:t> file </a:t>
            </a:r>
            <a:r>
              <a:rPr lang="en-ID" sz="1200" dirty="0" err="1">
                <a:solidFill>
                  <a:schemeClr val="bg1"/>
                </a:solidFill>
              </a:rPr>
              <a:t>materi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karena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harganya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jauh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lebih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murah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daripada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sewa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i="1" dirty="0" err="1">
                <a:solidFill>
                  <a:schemeClr val="bg1"/>
                </a:solidFill>
              </a:rPr>
              <a:t>Harddisk</a:t>
            </a:r>
            <a:r>
              <a:rPr lang="en-ID" sz="1200" i="1" dirty="0">
                <a:solidFill>
                  <a:schemeClr val="bg1"/>
                </a:solidFill>
              </a:rPr>
              <a:t> Virtual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biasa</a:t>
            </a:r>
            <a:r>
              <a:rPr lang="en-ID" sz="12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ID" sz="1200" b="1" dirty="0">
                <a:solidFill>
                  <a:schemeClr val="bg1"/>
                </a:solidFill>
              </a:rPr>
              <a:t>Bandwidth:</a:t>
            </a:r>
            <a:r>
              <a:rPr lang="en-ID" sz="1200" dirty="0">
                <a:solidFill>
                  <a:schemeClr val="bg1"/>
                </a:solidFill>
              </a:rPr>
              <a:t> Karena </a:t>
            </a:r>
            <a:r>
              <a:rPr lang="en-ID" sz="1200" dirty="0" err="1">
                <a:solidFill>
                  <a:schemeClr val="bg1"/>
                </a:solidFill>
              </a:rPr>
              <a:t>lokasinya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sesama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Sukabumi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biasanya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biaya</a:t>
            </a:r>
            <a:r>
              <a:rPr lang="en-ID" sz="1200" dirty="0">
                <a:solidFill>
                  <a:schemeClr val="bg1"/>
                </a:solidFill>
              </a:rPr>
              <a:t> transfer </a:t>
            </a:r>
            <a:r>
              <a:rPr lang="en-ID" sz="1200" dirty="0" err="1">
                <a:solidFill>
                  <a:schemeClr val="bg1"/>
                </a:solidFill>
              </a:rPr>
              <a:t>datanya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lebih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stabil</a:t>
            </a:r>
            <a:r>
              <a:rPr lang="en-ID" sz="1200" dirty="0">
                <a:solidFill>
                  <a:schemeClr val="bg1"/>
                </a:solidFill>
              </a:rPr>
              <a:t> dan </a:t>
            </a:r>
            <a:r>
              <a:rPr lang="en-ID" sz="1200" dirty="0" err="1">
                <a:solidFill>
                  <a:schemeClr val="bg1"/>
                </a:solidFill>
              </a:rPr>
              <a:t>latensinya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rendah</a:t>
            </a:r>
            <a:r>
              <a:rPr lang="en-ID" sz="1200" dirty="0">
                <a:solidFill>
                  <a:schemeClr val="bg1"/>
                </a:solidFill>
              </a:rPr>
              <a:t> (</a:t>
            </a:r>
            <a:r>
              <a:rPr lang="en-ID" sz="1200" dirty="0" err="1">
                <a:solidFill>
                  <a:schemeClr val="bg1"/>
                </a:solidFill>
              </a:rPr>
              <a:t>cepat</a:t>
            </a:r>
            <a:r>
              <a:rPr lang="en-ID" sz="1200" dirty="0">
                <a:solidFill>
                  <a:schemeClr val="bg1"/>
                </a:solidFill>
              </a:rPr>
              <a:t>).</a:t>
            </a:r>
          </a:p>
          <a:p>
            <a:endParaRPr lang="en-ID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7C799DB6-6C41-CEAF-C23F-A12CC636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>
            <a:extLst>
              <a:ext uri="{FF2B5EF4-FFF2-40B4-BE49-F238E27FC236}">
                <a16:creationId xmlns:a16="http://schemas.microsoft.com/office/drawing/2014/main" id="{69754DAE-98A2-9747-DA28-40D86623C9A1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32">
            <a:extLst>
              <a:ext uri="{FF2B5EF4-FFF2-40B4-BE49-F238E27FC236}">
                <a16:creationId xmlns:a16="http://schemas.microsoft.com/office/drawing/2014/main" id="{F51521A0-FEC1-E793-34D4-E0CF05B49239}"/>
              </a:ext>
            </a:extLst>
          </p:cNvPr>
          <p:cNvGrpSpPr/>
          <p:nvPr/>
        </p:nvGrpSpPr>
        <p:grpSpPr>
          <a:xfrm>
            <a:off x="405288" y="860175"/>
            <a:ext cx="171000" cy="830850"/>
            <a:chOff x="5816800" y="2392275"/>
            <a:chExt cx="171000" cy="830850"/>
          </a:xfrm>
        </p:grpSpPr>
        <p:sp>
          <p:nvSpPr>
            <p:cNvPr id="166" name="Google Shape;166;p32">
              <a:extLst>
                <a:ext uri="{FF2B5EF4-FFF2-40B4-BE49-F238E27FC236}">
                  <a16:creationId xmlns:a16="http://schemas.microsoft.com/office/drawing/2014/main" id="{5240501C-8755-72DD-6EB6-A02D9DBEC4D4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32">
              <a:extLst>
                <a:ext uri="{FF2B5EF4-FFF2-40B4-BE49-F238E27FC236}">
                  <a16:creationId xmlns:a16="http://schemas.microsoft.com/office/drawing/2014/main" id="{5A3980F1-1019-51F0-4DE6-58F04D177ED2}"/>
                </a:ext>
              </a:extLst>
            </p:cNvPr>
            <p:cNvCxnSpPr>
              <a:stCxn id="166" idx="2"/>
              <a:endCxn id="163" idx="1"/>
            </p:cNvCxnSpPr>
            <p:nvPr/>
          </p:nvCxnSpPr>
          <p:spPr>
            <a:xfrm rot="10800000" flipH="1">
              <a:off x="5816800" y="2392275"/>
              <a:ext cx="171000" cy="7959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32">
            <a:extLst>
              <a:ext uri="{FF2B5EF4-FFF2-40B4-BE49-F238E27FC236}">
                <a16:creationId xmlns:a16="http://schemas.microsoft.com/office/drawing/2014/main" id="{E25E3485-319F-AD73-A8E5-42E1F0033819}"/>
              </a:ext>
            </a:extLst>
          </p:cNvPr>
          <p:cNvGrpSpPr/>
          <p:nvPr/>
        </p:nvGrpSpPr>
        <p:grpSpPr>
          <a:xfrm flipH="1">
            <a:off x="8567713" y="860175"/>
            <a:ext cx="171000" cy="3515250"/>
            <a:chOff x="5816800" y="-292125"/>
            <a:chExt cx="171000" cy="3515250"/>
          </a:xfrm>
        </p:grpSpPr>
        <p:sp>
          <p:nvSpPr>
            <p:cNvPr id="169" name="Google Shape;169;p32">
              <a:extLst>
                <a:ext uri="{FF2B5EF4-FFF2-40B4-BE49-F238E27FC236}">
                  <a16:creationId xmlns:a16="http://schemas.microsoft.com/office/drawing/2014/main" id="{1C04E0F7-AD7F-9ECC-A593-F0CDAF0DE983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" name="Google Shape;170;p32">
              <a:extLst>
                <a:ext uri="{FF2B5EF4-FFF2-40B4-BE49-F238E27FC236}">
                  <a16:creationId xmlns:a16="http://schemas.microsoft.com/office/drawing/2014/main" id="{832295C2-572A-4333-1BA2-6F21089CA742}"/>
                </a:ext>
              </a:extLst>
            </p:cNvPr>
            <p:cNvCxnSpPr>
              <a:stCxn id="169" idx="2"/>
              <a:endCxn id="163" idx="3"/>
            </p:cNvCxnSpPr>
            <p:nvPr/>
          </p:nvCxnSpPr>
          <p:spPr>
            <a:xfrm rot="10800000" flipH="1">
              <a:off x="5816800" y="-292125"/>
              <a:ext cx="171000" cy="34803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32">
            <a:extLst>
              <a:ext uri="{FF2B5EF4-FFF2-40B4-BE49-F238E27FC236}">
                <a16:creationId xmlns:a16="http://schemas.microsoft.com/office/drawing/2014/main" id="{D9AFA119-3545-89F1-0A08-D3C4F80A5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b="1" dirty="0" err="1"/>
              <a:t>Estimasi</a:t>
            </a:r>
            <a:r>
              <a:rPr lang="en-ID" b="1" dirty="0"/>
              <a:t> </a:t>
            </a:r>
            <a:r>
              <a:rPr lang="en-ID" b="1" dirty="0" err="1"/>
              <a:t>biaya</a:t>
            </a:r>
            <a:r>
              <a:rPr lang="en-ID" b="1" dirty="0"/>
              <a:t> DC </a:t>
            </a:r>
            <a:r>
              <a:rPr lang="en-ID" b="1" dirty="0" err="1"/>
              <a:t>Cibadak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774723-464B-813E-3090-787CECD4B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595709"/>
              </p:ext>
            </p:extLst>
          </p:nvPr>
        </p:nvGraphicFramePr>
        <p:xfrm>
          <a:off x="1303564" y="1479187"/>
          <a:ext cx="6096000" cy="3340318"/>
        </p:xfrm>
        <a:graphic>
          <a:graphicData uri="http://schemas.openxmlformats.org/drawingml/2006/table">
            <a:tbl>
              <a:tblPr firstRow="1" bandRow="1">
                <a:tableStyleId>{017A3A50-23BF-4358-845B-355452F3EBDF}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08392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114125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110675"/>
                    </a:ext>
                  </a:extLst>
                </a:gridCol>
              </a:tblGrid>
              <a:tr h="388076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Komponen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spesifikasi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harga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1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 Unit Server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Dual Intel Xeon, 128GB RAM, SSD 2TB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Rp120.000.000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3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Networking (Switch &amp; Router)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Manageable Switch L3 + Firewall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Rp15.000.000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26130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UPS (Backup Listrik)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3kVA Online UPS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Rp10.000.000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22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Software OS &amp; DB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Linux &amp; PostgreSQL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Rp0 </a:t>
                      </a:r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(Gratis/Open Source)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2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INVESTASI AWAL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b="1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± Rp145.000.000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63698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39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9DA4AC95-EFBD-F0F3-D1ED-E6083E35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>
            <a:extLst>
              <a:ext uri="{FF2B5EF4-FFF2-40B4-BE49-F238E27FC236}">
                <a16:creationId xmlns:a16="http://schemas.microsoft.com/office/drawing/2014/main" id="{EFFFAADF-9078-BCF3-529A-7C2FBBEE1657}"/>
              </a:ext>
            </a:extLst>
          </p:cNvPr>
          <p:cNvSpPr/>
          <p:nvPr/>
        </p:nvSpPr>
        <p:spPr>
          <a:xfrm>
            <a:off x="576350" y="617847"/>
            <a:ext cx="79914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32">
            <a:extLst>
              <a:ext uri="{FF2B5EF4-FFF2-40B4-BE49-F238E27FC236}">
                <a16:creationId xmlns:a16="http://schemas.microsoft.com/office/drawing/2014/main" id="{E5C159E5-87FA-784F-33F6-AE9BE4A4EDB0}"/>
              </a:ext>
            </a:extLst>
          </p:cNvPr>
          <p:cNvGrpSpPr/>
          <p:nvPr/>
        </p:nvGrpSpPr>
        <p:grpSpPr>
          <a:xfrm>
            <a:off x="405288" y="860175"/>
            <a:ext cx="171000" cy="830850"/>
            <a:chOff x="5816800" y="2392275"/>
            <a:chExt cx="171000" cy="830850"/>
          </a:xfrm>
        </p:grpSpPr>
        <p:sp>
          <p:nvSpPr>
            <p:cNvPr id="166" name="Google Shape;166;p32">
              <a:extLst>
                <a:ext uri="{FF2B5EF4-FFF2-40B4-BE49-F238E27FC236}">
                  <a16:creationId xmlns:a16="http://schemas.microsoft.com/office/drawing/2014/main" id="{A8BAC230-2867-5F16-B528-DBCE554FA844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32">
              <a:extLst>
                <a:ext uri="{FF2B5EF4-FFF2-40B4-BE49-F238E27FC236}">
                  <a16:creationId xmlns:a16="http://schemas.microsoft.com/office/drawing/2014/main" id="{500F47EE-510B-A1E1-607D-7FAF456196E1}"/>
                </a:ext>
              </a:extLst>
            </p:cNvPr>
            <p:cNvCxnSpPr>
              <a:stCxn id="166" idx="2"/>
              <a:endCxn id="163" idx="1"/>
            </p:cNvCxnSpPr>
            <p:nvPr/>
          </p:nvCxnSpPr>
          <p:spPr>
            <a:xfrm rot="10800000" flipH="1">
              <a:off x="5816800" y="2392275"/>
              <a:ext cx="171000" cy="7959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32">
            <a:extLst>
              <a:ext uri="{FF2B5EF4-FFF2-40B4-BE49-F238E27FC236}">
                <a16:creationId xmlns:a16="http://schemas.microsoft.com/office/drawing/2014/main" id="{C3FCD130-DD25-541A-2D54-862BAB3A4570}"/>
              </a:ext>
            </a:extLst>
          </p:cNvPr>
          <p:cNvGrpSpPr/>
          <p:nvPr/>
        </p:nvGrpSpPr>
        <p:grpSpPr>
          <a:xfrm flipH="1">
            <a:off x="8567713" y="860175"/>
            <a:ext cx="171000" cy="3515250"/>
            <a:chOff x="5816800" y="-292125"/>
            <a:chExt cx="171000" cy="3515250"/>
          </a:xfrm>
        </p:grpSpPr>
        <p:sp>
          <p:nvSpPr>
            <p:cNvPr id="169" name="Google Shape;169;p32">
              <a:extLst>
                <a:ext uri="{FF2B5EF4-FFF2-40B4-BE49-F238E27FC236}">
                  <a16:creationId xmlns:a16="http://schemas.microsoft.com/office/drawing/2014/main" id="{F090213E-0798-1B21-6DDF-105481138DB0}"/>
                </a:ext>
              </a:extLst>
            </p:cNvPr>
            <p:cNvSpPr/>
            <p:nvPr/>
          </p:nvSpPr>
          <p:spPr>
            <a:xfrm>
              <a:off x="5816800" y="3153225"/>
              <a:ext cx="69900" cy="69900"/>
            </a:xfrm>
            <a:prstGeom prst="ellipse">
              <a:avLst/>
            </a:prstGeom>
            <a:gradFill>
              <a:gsLst>
                <a:gs pos="0">
                  <a:srgbClr val="82BCFE"/>
                </a:gs>
                <a:gs pos="100000">
                  <a:srgbClr val="0C77F1"/>
                </a:gs>
              </a:gsLst>
              <a:lin ang="5400012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0" name="Google Shape;170;p32">
              <a:extLst>
                <a:ext uri="{FF2B5EF4-FFF2-40B4-BE49-F238E27FC236}">
                  <a16:creationId xmlns:a16="http://schemas.microsoft.com/office/drawing/2014/main" id="{BC49AE2E-E03E-B0EE-DF99-C8CEF2BA7F07}"/>
                </a:ext>
              </a:extLst>
            </p:cNvPr>
            <p:cNvCxnSpPr>
              <a:stCxn id="169" idx="2"/>
              <a:endCxn id="163" idx="3"/>
            </p:cNvCxnSpPr>
            <p:nvPr/>
          </p:nvCxnSpPr>
          <p:spPr>
            <a:xfrm rot="10800000" flipH="1">
              <a:off x="5816800" y="-292125"/>
              <a:ext cx="171000" cy="3480300"/>
            </a:xfrm>
            <a:prstGeom prst="bentConnector3">
              <a:avLst>
                <a:gd name="adj1" fmla="val -139254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32">
            <a:extLst>
              <a:ext uri="{FF2B5EF4-FFF2-40B4-BE49-F238E27FC236}">
                <a16:creationId xmlns:a16="http://schemas.microsoft.com/office/drawing/2014/main" id="{23439524-4464-2FE4-F11C-11A3774CD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811346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800" b="1" dirty="0" err="1"/>
              <a:t>Estimasi</a:t>
            </a:r>
            <a:r>
              <a:rPr lang="en-ID" sz="2800" b="1" dirty="0"/>
              <a:t> </a:t>
            </a:r>
            <a:r>
              <a:rPr lang="en-ID" sz="2800" b="1" dirty="0" err="1"/>
              <a:t>biaya</a:t>
            </a:r>
            <a:r>
              <a:rPr lang="en-ID" sz="2800" b="1" dirty="0"/>
              <a:t> DC </a:t>
            </a:r>
            <a:r>
              <a:rPr lang="en-ID" sz="2800" b="1" dirty="0" err="1"/>
              <a:t>Cibadak</a:t>
            </a:r>
            <a:r>
              <a:rPr lang="en-ID" sz="2800" b="1" dirty="0"/>
              <a:t> (</a:t>
            </a:r>
            <a:r>
              <a:rPr lang="en-ID" sz="2800" b="1" dirty="0" err="1"/>
              <a:t>sewa</a:t>
            </a:r>
            <a:r>
              <a:rPr lang="en-ID" sz="2800" b="1" dirty="0"/>
              <a:t> </a:t>
            </a:r>
            <a:r>
              <a:rPr lang="en-ID" sz="2800" b="1" dirty="0" err="1"/>
              <a:t>bulanan</a:t>
            </a:r>
            <a:r>
              <a:rPr lang="en-ID" sz="2800" b="1" dirty="0"/>
              <a:t>)</a:t>
            </a:r>
            <a:endParaRPr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E0073B-BB35-3953-8A4B-15EA46D945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841428"/>
              </p:ext>
            </p:extLst>
          </p:nvPr>
        </p:nvGraphicFramePr>
        <p:xfrm>
          <a:off x="1303564" y="1479187"/>
          <a:ext cx="6096000" cy="3457032"/>
        </p:xfrm>
        <a:graphic>
          <a:graphicData uri="http://schemas.openxmlformats.org/drawingml/2006/table">
            <a:tbl>
              <a:tblPr firstRow="1" bandRow="1">
                <a:tableStyleId>{017A3A50-23BF-4358-845B-355452F3EBDF}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083924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114125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110675"/>
                    </a:ext>
                  </a:extLst>
                </a:gridCol>
              </a:tblGrid>
              <a:tr h="38807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Layanan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cloud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Peran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Estimasi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Biaya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/Bulan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1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VM Small Instance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Standby Server (2 vCPU, 4GB RAM)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Rp450.000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32616"/>
                  </a:ext>
                </a:extLst>
              </a:tr>
              <a:tr h="41635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Cloud storage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4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Simpan</a:t>
                      </a: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file </a:t>
                      </a:r>
                      <a:r>
                        <a:rPr lang="en-ID" sz="14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materi</a:t>
                      </a: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&amp; backup (500GB)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Rp250.000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extLst>
                  <a:ext uri="{0D108BD9-81ED-4DB2-BD59-A6C34878D82A}">
                    <a16:rowId xmlns:a16="http://schemas.microsoft.com/office/drawing/2014/main" val="261305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lang="en-ID" sz="14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anaged</a:t>
                      </a:r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Database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Replikasi</a:t>
                      </a: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data </a:t>
                      </a:r>
                      <a:r>
                        <a:rPr lang="en-ID" sz="14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nilai</a:t>
                      </a:r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(Standby Mode)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Rp800.000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22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Bandwidth/VPN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Jalur </a:t>
                      </a:r>
                      <a:r>
                        <a:rPr lang="en-ID" sz="1200" kern="100" dirty="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rahasia</a:t>
                      </a:r>
                      <a:r>
                        <a:rPr lang="en-ID" sz="1200" kern="10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D" sz="1200" kern="100" dirty="0" err="1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Cibadak-Sukabumi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14300" marT="152400" marB="152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Rp300.000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28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BIAYA BULANAN</a:t>
                      </a:r>
                      <a:endParaRPr lang="en-ID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D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4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± Rp1.800.000 / Bulan</a:t>
                      </a:r>
                      <a:endParaRPr lang="en-ID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2400" marB="152400" anchor="ctr"/>
                </a:tc>
                <a:extLst>
                  <a:ext uri="{0D108BD9-81ED-4DB2-BD59-A6C34878D82A}">
                    <a16:rowId xmlns:a16="http://schemas.microsoft.com/office/drawing/2014/main" val="63698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33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2"/>
          <p:cNvSpPr/>
          <p:nvPr/>
        </p:nvSpPr>
        <p:spPr>
          <a:xfrm>
            <a:off x="2312247" y="42000"/>
            <a:ext cx="4519500" cy="3838500"/>
          </a:xfrm>
          <a:prstGeom prst="ellipse">
            <a:avLst/>
          </a:prstGeom>
          <a:gradFill>
            <a:gsLst>
              <a:gs pos="0">
                <a:srgbClr val="170F8D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52"/>
          <p:cNvSpPr/>
          <p:nvPr/>
        </p:nvSpPr>
        <p:spPr>
          <a:xfrm>
            <a:off x="1029162" y="651494"/>
            <a:ext cx="4644000" cy="484800"/>
          </a:xfrm>
          <a:prstGeom prst="rect">
            <a:avLst/>
          </a:prstGeom>
          <a:gradFill>
            <a:gsLst>
              <a:gs pos="0">
                <a:srgbClr val="00BCC2"/>
              </a:gs>
              <a:gs pos="100000">
                <a:srgbClr val="B2E4C2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5" name="Google Shape;79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4196" y="774949"/>
            <a:ext cx="1875751" cy="1796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6" name="Google Shape;796;p52"/>
          <p:cNvCxnSpPr>
            <a:cxnSpLocks/>
            <a:stCxn id="793" idx="1"/>
          </p:cNvCxnSpPr>
          <p:nvPr/>
        </p:nvCxnSpPr>
        <p:spPr>
          <a:xfrm rot="10800000" flipV="1">
            <a:off x="653144" y="893893"/>
            <a:ext cx="376019" cy="3376027"/>
          </a:xfrm>
          <a:prstGeom prst="bent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8" name="Google Shape;798;p52"/>
          <p:cNvSpPr txBox="1">
            <a:spLocks noGrp="1"/>
          </p:cNvSpPr>
          <p:nvPr>
            <p:ph type="title"/>
          </p:nvPr>
        </p:nvSpPr>
        <p:spPr>
          <a:xfrm>
            <a:off x="1478025" y="651494"/>
            <a:ext cx="4312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Desain </a:t>
            </a:r>
            <a:r>
              <a:rPr lang="en-US" dirty="0" err="1">
                <a:solidFill>
                  <a:schemeClr val="dk1"/>
                </a:solidFill>
              </a:rPr>
              <a:t>alurnya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0D13E-C0D0-602D-77A1-4761FADAC7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13" y="1534340"/>
            <a:ext cx="5016500" cy="2735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oud Engineer CV by Slidesgo">
  <a:themeElements>
    <a:clrScheme name="Simple Light">
      <a:dk1>
        <a:srgbClr val="00000D"/>
      </a:dk1>
      <a:lt1>
        <a:srgbClr val="FFFFFF"/>
      </a:lt1>
      <a:dk2>
        <a:srgbClr val="6EEDDA"/>
      </a:dk2>
      <a:lt2>
        <a:srgbClr val="4098FD"/>
      </a:lt2>
      <a:accent1>
        <a:srgbClr val="584EFD"/>
      </a:accent1>
      <a:accent2>
        <a:srgbClr val="251AC0"/>
      </a:accent2>
      <a:accent3>
        <a:srgbClr val="2A118E"/>
      </a:accent3>
      <a:accent4>
        <a:srgbClr val="150248"/>
      </a:accent4>
      <a:accent5>
        <a:srgbClr val="6EEDDA"/>
      </a:accent5>
      <a:accent6>
        <a:srgbClr val="4098FD"/>
      </a:accent6>
      <a:hlink>
        <a:srgbClr val="6EED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On-screen Show (16:9)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Fugaz One</vt:lpstr>
      <vt:lpstr>Catamaran</vt:lpstr>
      <vt:lpstr>Arial</vt:lpstr>
      <vt:lpstr>Aptos</vt:lpstr>
      <vt:lpstr>Roboto Condensed Light</vt:lpstr>
      <vt:lpstr>Cloud Engineer CV by Slidesgo</vt:lpstr>
      <vt:lpstr>ANGGOTA</vt:lpstr>
      <vt:lpstr>Proses pengolahan data E-Learning dilakukan di Lokasi utama Data Center (DC) Universitas X Cibadak dengan on premised (primary)</vt:lpstr>
      <vt:lpstr>Spesifikasi di  DC Cibadak</vt:lpstr>
      <vt:lpstr>Spesifikasi di  DC Cibadak</vt:lpstr>
      <vt:lpstr>Jalur Kabel (Topologi Jaringan) Sukabumi - Cibadak </vt:lpstr>
      <vt:lpstr>Layanan Cloud di PT Anti DownTime</vt:lpstr>
      <vt:lpstr>Estimasi biaya DC Cibadak</vt:lpstr>
      <vt:lpstr>Estimasi biaya DC Cibadak (sewa bulanan)</vt:lpstr>
      <vt:lpstr>Desain alurnya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HP</cp:lastModifiedBy>
  <cp:revision>1</cp:revision>
  <dcterms:modified xsi:type="dcterms:W3CDTF">2026-05-18T06:24:08Z</dcterms:modified>
</cp:coreProperties>
</file>